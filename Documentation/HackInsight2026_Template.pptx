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ack Insight 2026" id="{D27E10AB-BB75-0403-50BE-A673A1996899}">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564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pic>
        <p:nvPicPr>
          <p:cNvPr id="2" name="Image 0" descr="/mnt/user-data/uploads/Hack_Insight_2026_Tech_Banner__1_.png"/>
          <p:cNvPicPr>
            <a:picLocks noChangeAspect="1"/>
          </p:cNvPicPr>
          <p:nvPr/>
        </p:nvPicPr>
        <p:blipFill>
          <a:blip r:embed="rId2"/>
          <a:stretch>
            <a:fillRect/>
          </a:stretch>
        </p:blipFill>
        <p:spPr>
          <a:xfrm>
            <a:off x="0" y="0"/>
            <a:ext cx="9144000" cy="371246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txBox="1"/>
          <p:nvPr/>
        </p:nvSpPr>
        <p:spPr>
          <a:xfrm>
            <a:off x="457200" y="4754880"/>
            <a:ext cx="6400800" cy="228600"/>
          </a:xfrm>
          <a:prstGeom prst="rect">
            <a:avLst/>
          </a:prstGeom>
          <a:noFill/>
          <a:ln/>
        </p:spPr>
        <p:txBody>
          <a:bodyPr wrap="square" lIns="0" tIns="0" rIns="0" bIns="0" rtlCol="0" anchor="ctr"/>
          <a:lstStyle/>
          <a:p>
            <a:pPr marL="0" indent="0">
              <a:buNone/>
            </a:pPr>
            <a:r>
              <a:rPr lang="en-US" sz="1000" dirty="0">
                <a:solidFill>
                  <a:schemeClr val="accent6"/>
                </a:solidFill>
              </a:rPr>
              <a:t>HACK INSIGHT 2026  |  NED University of Engineering &amp; Technology</a:t>
            </a:r>
            <a:endParaRPr lang="en-US" sz="10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txBox="1"/>
          <p:nvPr/>
        </p:nvSpPr>
        <p:spPr>
          <a:xfrm>
            <a:off x="457200" y="4754880"/>
            <a:ext cx="6400800" cy="228600"/>
          </a:xfrm>
          <a:prstGeom prst="rect">
            <a:avLst/>
          </a:prstGeom>
          <a:noFill/>
          <a:ln/>
        </p:spPr>
        <p:txBody>
          <a:bodyPr wrap="square" lIns="0" tIns="0" rIns="0" bIns="0" rtlCol="0" anchor="ctr"/>
          <a:lstStyle/>
          <a:p>
            <a:pPr marL="0" indent="0">
              <a:buNone/>
            </a:pPr>
            <a:r>
              <a:rPr lang="en-US" sz="1000" dirty="0">
                <a:solidFill>
                  <a:schemeClr val="accent4"/>
                </a:solidFill>
              </a:rPr>
              <a:t>HACK INSIGHT 2026  |  NED University of Engineering &amp; Technology</a:t>
            </a:r>
            <a:endParaRPr lang="en-US" sz="10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2">
    <p:bg>
      <p:bgPr>
        <a:solidFill>
          <a:schemeClr val="bg1"/>
        </a:solidFill>
        <a:effectLst/>
      </p:bgPr>
    </p:bg>
    <p:spTree>
      <p:nvGrpSpPr>
        <p:cNvPr id="1" name=""/>
        <p:cNvGrpSpPr/>
        <p:nvPr/>
      </p:nvGrpSpPr>
      <p:grpSpPr>
        <a:xfrm>
          <a:off x="0" y="0"/>
          <a:ext cx="0" cy="0"/>
          <a:chOff x="0" y="0"/>
          <a:chExt cx="0" cy="0"/>
        </a:xfrm>
      </p:grpSpPr>
      <p:pic>
        <p:nvPicPr>
          <p:cNvPr id="2" name="Image 0" descr="/mnt/user-data/uploads/Hack_Insight_2026_Tech_Banner__1_.png"/>
          <p:cNvPicPr>
            <a:picLocks noChangeAspect="1"/>
          </p:cNvPicPr>
          <p:nvPr/>
        </p:nvPicPr>
        <p:blipFill>
          <a:blip r:embed="rId2"/>
          <a:stretch>
            <a:fillRect/>
          </a:stretch>
        </p:blipFill>
        <p:spPr>
          <a:xfrm>
            <a:off x="0" y="0"/>
            <a:ext cx="9144000" cy="3712464"/>
          </a:xfrm>
          <a:prstGeom prst="rect">
            <a:avLst/>
          </a:prstGeom>
        </p:spPr>
      </p:pic>
      <p:sp>
        <p:nvSpPr>
          <p:cNvPr id="3" name="Text 0"/>
          <p:cNvSpPr>
            <a:spLocks noGrp="1"/>
          </p:cNvSpPr>
          <p:nvPr>
            <p:ph type="title" idx="101" hasCustomPrompt="1"/>
          </p:nvPr>
        </p:nvSpPr>
        <p:spPr>
          <a:xfrm>
            <a:off x="457200" y="3840480"/>
            <a:ext cx="8229600" cy="59436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a:spLocks noGrp="1"/>
          </p:cNvSpPr>
          <p:nvPr>
            <p:ph type="body" idx="102" hasCustomPrompt="1"/>
          </p:nvPr>
        </p:nvSpPr>
        <p:spPr>
          <a:xfrm>
            <a:off x="457200" y="4480560"/>
            <a:ext cx="8229600" cy="411480"/>
          </a:xfrm>
          <a:prstGeom prst="rect">
            <a:avLst/>
          </a:prstGeom>
          <a:noFill/>
          <a:ln/>
        </p:spPr>
        <p:txBody>
          <a:bodyPr wrap="square" rtlCol="0"/>
          <a:lstStyle>
            <a:lvl1pPr marL="0" indent="0" algn="l">
              <a:buNone/>
              <a:defRPr lang="en-US" sz="1600" dirty="0">
                <a:solidFill>
                  <a:schemeClr val="tx1"/>
                </a:solidFill>
              </a:defRPr>
            </a:lvl1pPr>
          </a:lstStyle>
          <a:p>
            <a:pPr marL="0" indent="0" algn="l">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data-insight-two.vercel.app/"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3840480"/>
            <a:ext cx="8229600" cy="594360"/>
          </a:xfrm>
          <a:prstGeom prst="rect">
            <a:avLst/>
          </a:prstGeom>
          <a:noFill/>
          <a:ln/>
        </p:spPr>
        <p:txBody>
          <a:bodyPr wrap="square" lIns="0" tIns="0" rIns="0" bIns="0" rtlCol="0" anchor="ctr"/>
          <a:lstStyle/>
          <a:p>
            <a:pPr marL="0" indent="0" algn="l">
              <a:buNone/>
            </a:pPr>
            <a:r>
              <a:rPr lang="en-US" sz="1800" dirty="0"/>
              <a:t>Hourly PM2.5 Forecasting &amp; Unhealthy-Air Warning for Pakistani Cities</a:t>
            </a:r>
            <a:endParaRPr lang="en-US" sz="3000" dirty="0"/>
          </a:p>
        </p:txBody>
      </p:sp>
      <p:sp>
        <p:nvSpPr>
          <p:cNvPr id="3" name="Text 0"/>
          <p:cNvSpPr>
            <a:spLocks noGrp="1"/>
          </p:cNvSpPr>
          <p:nvPr>
            <p:ph type="body" idx="102" hasCustomPrompt="1"/>
          </p:nvPr>
        </p:nvSpPr>
        <p:spPr>
          <a:xfrm>
            <a:off x="457200" y="4480560"/>
            <a:ext cx="8229600" cy="411480"/>
          </a:xfrm>
          <a:prstGeom prst="rect">
            <a:avLst/>
          </a:prstGeom>
          <a:noFill/>
          <a:ln/>
        </p:spPr>
        <p:txBody>
          <a:bodyPr wrap="square" lIns="0" tIns="0" rIns="0" bIns="0" rtlCol="0" anchor="ctr"/>
          <a:lstStyle/>
          <a:p>
            <a:pPr marL="0" indent="0" algn="l">
              <a:buNone/>
            </a:pPr>
            <a:r>
              <a:rPr lang="en-US" sz="1600" dirty="0">
                <a:solidFill>
                  <a:schemeClr val="tx1"/>
                </a:solidFill>
              </a:rPr>
              <a:t>Team Name: </a:t>
            </a:r>
            <a:r>
              <a:rPr lang="en-US" sz="1600" dirty="0" err="1">
                <a:solidFill>
                  <a:schemeClr val="tx1"/>
                </a:solidFill>
              </a:rPr>
              <a:t>Khubsoorat</a:t>
            </a:r>
            <a:r>
              <a:rPr lang="en-US" sz="1600" dirty="0">
                <a:solidFill>
                  <a:schemeClr val="tx1"/>
                </a:solidFill>
              </a:rPr>
              <a:t> </a:t>
            </a:r>
            <a:r>
              <a:rPr lang="en-US" sz="1600" dirty="0" err="1">
                <a:solidFill>
                  <a:schemeClr val="tx1"/>
                </a:solidFill>
              </a:rPr>
              <a:t>Shklein</a:t>
            </a:r>
            <a:r>
              <a:rPr lang="en-US" sz="1600" dirty="0">
                <a:solidFill>
                  <a:schemeClr val="tx1"/>
                </a:solidFill>
              </a:rPr>
              <a:t>]  |  [Track: </a:t>
            </a:r>
            <a:r>
              <a:rPr lang="en-US" dirty="0"/>
              <a:t>Air Quality</a:t>
            </a:r>
            <a:r>
              <a:rPr lang="en-US" sz="1600" dirty="0">
                <a:solidFill>
                  <a:schemeClr val="tx1"/>
                </a:solidFill>
              </a:rPr>
              <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Problem card"/>
          <p:cNvSpPr/>
          <p:nvPr/>
        </p:nvSpPr>
        <p:spPr>
          <a:xfrm>
            <a:off x="457200" y="1188720"/>
            <a:ext cx="4937760" cy="3291840"/>
          </a:xfrm>
          <a:prstGeom prst="roundRect">
            <a:avLst>
              <a:gd name="adj" fmla="val 2778"/>
            </a:avLst>
          </a:prstGeom>
          <a:solidFill>
            <a:schemeClr val="bg2"/>
          </a:solidFill>
          <a:ln/>
        </p:spPr>
      </p:sp>
      <p:sp>
        <p:nvSpPr>
          <p:cNvPr id="4" name="Text 2"/>
          <p:cNvSpPr txBox="1"/>
          <p:nvPr/>
        </p:nvSpPr>
        <p:spPr>
          <a:xfrm>
            <a:off x="731520" y="1417320"/>
            <a:ext cx="4389120" cy="274320"/>
          </a:xfrm>
          <a:prstGeom prst="rect">
            <a:avLst/>
          </a:prstGeom>
          <a:noFill/>
          <a:ln/>
        </p:spPr>
        <p:txBody>
          <a:bodyPr wrap="square" lIns="0" tIns="0" rIns="0" bIns="0" rtlCol="0" anchor="ctr"/>
          <a:lstStyle/>
          <a:p>
            <a:pPr marL="0" indent="0">
              <a:buNone/>
            </a:pPr>
            <a:r>
              <a:rPr lang="en-US" sz="1200" b="1" dirty="0">
                <a:solidFill>
                  <a:schemeClr val="accent1"/>
                </a:solidFill>
              </a:rPr>
              <a:t>THE PROBLEM</a:t>
            </a:r>
            <a:endParaRPr lang="en-US" sz="1200" dirty="0"/>
          </a:p>
        </p:txBody>
      </p:sp>
      <p:sp>
        <p:nvSpPr>
          <p:cNvPr id="5" name="Text 3"/>
          <p:cNvSpPr txBox="1"/>
          <p:nvPr/>
        </p:nvSpPr>
        <p:spPr>
          <a:xfrm>
            <a:off x="731520" y="1783080"/>
            <a:ext cx="4389120" cy="2468880"/>
          </a:xfrm>
          <a:prstGeom prst="rect">
            <a:avLst/>
          </a:prstGeom>
          <a:noFill/>
          <a:ln/>
        </p:spPr>
        <p:txBody>
          <a:bodyPr wrap="square" lIns="0" tIns="0" rIns="0" bIns="0" rtlCol="0" anchor="t"/>
          <a:lstStyle/>
          <a:p>
            <a:pPr marL="0" indent="0">
              <a:buNone/>
            </a:pPr>
            <a:r>
              <a:rPr lang="en-US" dirty="0"/>
              <a:t>Cities like Lahore and Karachi suffer unhealthy PM2.5 spikes, but residents and officials get little advance warning. Sensor data is scattered and noisy, and there is no simple tool that forecasts the next hours with a stated uncertainty range.</a:t>
            </a:r>
            <a:endParaRPr lang="en-US" sz="1800" dirty="0"/>
          </a:p>
        </p:txBody>
      </p:sp>
      <p:sp>
        <p:nvSpPr>
          <p:cNvPr id="6" name="Side card 1"/>
          <p:cNvSpPr/>
          <p:nvPr/>
        </p:nvSpPr>
        <p:spPr>
          <a:xfrm>
            <a:off x="5669280" y="1188720"/>
            <a:ext cx="3017520" cy="1005840"/>
          </a:xfrm>
          <a:prstGeom prst="roundRect">
            <a:avLst>
              <a:gd name="adj" fmla="val 9091"/>
            </a:avLst>
          </a:prstGeom>
          <a:solidFill>
            <a:schemeClr val="bg2"/>
          </a:solidFill>
          <a:ln/>
        </p:spPr>
      </p:sp>
      <p:sp>
        <p:nvSpPr>
          <p:cNvPr id="7" name="Number 1"/>
          <p:cNvSpPr txBox="1"/>
          <p:nvPr/>
        </p:nvSpPr>
        <p:spPr>
          <a:xfrm>
            <a:off x="585216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6"/>
          <p:cNvSpPr txBox="1"/>
          <p:nvPr/>
        </p:nvSpPr>
        <p:spPr>
          <a:xfrm>
            <a:off x="6355080" y="1417320"/>
            <a:ext cx="2194560" cy="274320"/>
          </a:xfrm>
          <a:prstGeom prst="rect">
            <a:avLst/>
          </a:prstGeom>
          <a:noFill/>
          <a:ln/>
        </p:spPr>
        <p:txBody>
          <a:bodyPr wrap="square" lIns="0" tIns="0" rIns="0" bIns="0" rtlCol="0" anchor="ctr"/>
          <a:lstStyle/>
          <a:p>
            <a:pPr marL="0" indent="0">
              <a:buNone/>
            </a:pPr>
            <a:r>
              <a:rPr lang="en-US" sz="1400" b="1" dirty="0">
                <a:solidFill>
                  <a:schemeClr val="tx1"/>
                </a:solidFill>
              </a:rPr>
              <a:t>Who is affected?</a:t>
            </a:r>
            <a:endParaRPr lang="en-US" sz="1400" dirty="0"/>
          </a:p>
        </p:txBody>
      </p:sp>
      <p:sp>
        <p:nvSpPr>
          <p:cNvPr id="9" name="Text 7"/>
          <p:cNvSpPr txBox="1"/>
          <p:nvPr/>
        </p:nvSpPr>
        <p:spPr>
          <a:xfrm>
            <a:off x="6355080" y="1719072"/>
            <a:ext cx="2194560" cy="274320"/>
          </a:xfrm>
          <a:prstGeom prst="rect">
            <a:avLst/>
          </a:prstGeom>
          <a:noFill/>
          <a:ln/>
        </p:spPr>
        <p:txBody>
          <a:bodyPr wrap="square" lIns="0" tIns="0" rIns="0" bIns="0" rtlCol="0" anchor="ctr"/>
          <a:lstStyle/>
          <a:p>
            <a:pPr marL="0" indent="0">
              <a:buNone/>
            </a:pPr>
            <a:r>
              <a:rPr lang="en-US" sz="1200" dirty="0">
                <a:solidFill>
                  <a:schemeClr val="accent6"/>
                </a:solidFill>
              </a:rPr>
              <a:t>[</a:t>
            </a:r>
            <a:r>
              <a:rPr lang="en-US" sz="1200" dirty="0"/>
              <a:t>Residents of Lahore, Karachi, Islamabad, Peshawar</a:t>
            </a:r>
            <a:r>
              <a:rPr lang="en-US" sz="1200" dirty="0">
                <a:solidFill>
                  <a:schemeClr val="accent6"/>
                </a:solidFill>
              </a:rPr>
              <a:t>]</a:t>
            </a:r>
            <a:endParaRPr lang="en-US" sz="1200" dirty="0"/>
          </a:p>
        </p:txBody>
      </p:sp>
      <p:sp>
        <p:nvSpPr>
          <p:cNvPr id="10" name="Side card 2"/>
          <p:cNvSpPr/>
          <p:nvPr/>
        </p:nvSpPr>
        <p:spPr>
          <a:xfrm>
            <a:off x="5669280" y="2331720"/>
            <a:ext cx="3017520" cy="1005840"/>
          </a:xfrm>
          <a:prstGeom prst="roundRect">
            <a:avLst>
              <a:gd name="adj" fmla="val 9091"/>
            </a:avLst>
          </a:prstGeom>
          <a:solidFill>
            <a:schemeClr val="bg2"/>
          </a:solidFill>
          <a:ln/>
        </p:spPr>
      </p:sp>
      <p:sp>
        <p:nvSpPr>
          <p:cNvPr id="11" name="Number 2"/>
          <p:cNvSpPr txBox="1"/>
          <p:nvPr/>
        </p:nvSpPr>
        <p:spPr>
          <a:xfrm>
            <a:off x="5852160" y="2651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6355080" y="2560320"/>
            <a:ext cx="2194560" cy="274320"/>
          </a:xfrm>
          <a:prstGeom prst="rect">
            <a:avLst/>
          </a:prstGeom>
          <a:noFill/>
          <a:ln/>
        </p:spPr>
        <p:txBody>
          <a:bodyPr wrap="square" lIns="0" tIns="0" rIns="0" bIns="0" rtlCol="0" anchor="ctr"/>
          <a:lstStyle/>
          <a:p>
            <a:pPr marL="0" indent="0">
              <a:buNone/>
            </a:pPr>
            <a:r>
              <a:rPr lang="en-US" sz="1400" b="1" dirty="0">
                <a:solidFill>
                  <a:schemeClr val="tx1"/>
                </a:solidFill>
              </a:rPr>
              <a:t>Why does it matter?</a:t>
            </a:r>
            <a:endParaRPr lang="en-US" sz="1400" dirty="0"/>
          </a:p>
        </p:txBody>
      </p:sp>
      <p:sp>
        <p:nvSpPr>
          <p:cNvPr id="13" name="Text 11"/>
          <p:cNvSpPr txBox="1"/>
          <p:nvPr/>
        </p:nvSpPr>
        <p:spPr>
          <a:xfrm>
            <a:off x="6355079" y="2862072"/>
            <a:ext cx="2421775" cy="274320"/>
          </a:xfrm>
          <a:prstGeom prst="rect">
            <a:avLst/>
          </a:prstGeom>
          <a:noFill/>
          <a:ln/>
        </p:spPr>
        <p:txBody>
          <a:bodyPr wrap="square" lIns="0" tIns="0" rIns="0" bIns="0" rtlCol="0" anchor="ctr"/>
          <a:lstStyle/>
          <a:p>
            <a:pPr marL="0" indent="0">
              <a:buNone/>
            </a:pPr>
            <a:r>
              <a:rPr lang="en-US" sz="1200" dirty="0">
                <a:solidFill>
                  <a:schemeClr val="accent6"/>
                </a:solidFill>
              </a:rPr>
              <a:t>[</a:t>
            </a:r>
            <a:r>
              <a:rPr lang="en-US" sz="1200" dirty="0"/>
              <a:t>PM2.5 drives respiratory illness; smog peaks hit hardest in winter</a:t>
            </a:r>
            <a:r>
              <a:rPr lang="en-US" sz="1200" dirty="0">
                <a:solidFill>
                  <a:schemeClr val="accent6"/>
                </a:solidFill>
              </a:rPr>
              <a:t>]</a:t>
            </a:r>
            <a:endParaRPr lang="en-US" sz="1200" dirty="0"/>
          </a:p>
        </p:txBody>
      </p:sp>
      <p:sp>
        <p:nvSpPr>
          <p:cNvPr id="14" name="Side card 3"/>
          <p:cNvSpPr/>
          <p:nvPr/>
        </p:nvSpPr>
        <p:spPr>
          <a:xfrm>
            <a:off x="5669280" y="3474720"/>
            <a:ext cx="3017520" cy="1005840"/>
          </a:xfrm>
          <a:prstGeom prst="roundRect">
            <a:avLst>
              <a:gd name="adj" fmla="val 9091"/>
            </a:avLst>
          </a:prstGeom>
          <a:solidFill>
            <a:schemeClr val="bg2"/>
          </a:solidFill>
          <a:ln/>
        </p:spPr>
      </p:sp>
      <p:sp>
        <p:nvSpPr>
          <p:cNvPr id="15" name="Number 3"/>
          <p:cNvSpPr txBox="1"/>
          <p:nvPr/>
        </p:nvSpPr>
        <p:spPr>
          <a:xfrm>
            <a:off x="5852160" y="3794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 14"/>
          <p:cNvSpPr txBox="1"/>
          <p:nvPr/>
        </p:nvSpPr>
        <p:spPr>
          <a:xfrm>
            <a:off x="6355080" y="3703320"/>
            <a:ext cx="2194560" cy="274320"/>
          </a:xfrm>
          <a:prstGeom prst="rect">
            <a:avLst/>
          </a:prstGeom>
          <a:noFill/>
          <a:ln/>
        </p:spPr>
        <p:txBody>
          <a:bodyPr wrap="square" lIns="0" tIns="0" rIns="0" bIns="0" rtlCol="0" anchor="ctr"/>
          <a:lstStyle/>
          <a:p>
            <a:pPr marL="0" indent="0">
              <a:buNone/>
            </a:pPr>
            <a:r>
              <a:rPr lang="en-US" sz="1400" b="1" dirty="0">
                <a:solidFill>
                  <a:schemeClr val="tx1"/>
                </a:solidFill>
              </a:rPr>
              <a:t>Our goal</a:t>
            </a:r>
            <a:endParaRPr lang="en-US" sz="1400" dirty="0"/>
          </a:p>
        </p:txBody>
      </p:sp>
      <p:sp>
        <p:nvSpPr>
          <p:cNvPr id="17" name="Text 15"/>
          <p:cNvSpPr txBox="1"/>
          <p:nvPr/>
        </p:nvSpPr>
        <p:spPr>
          <a:xfrm>
            <a:off x="6355080" y="4005072"/>
            <a:ext cx="2331720" cy="274320"/>
          </a:xfrm>
          <a:prstGeom prst="rect">
            <a:avLst/>
          </a:prstGeom>
          <a:noFill/>
          <a:ln/>
        </p:spPr>
        <p:txBody>
          <a:bodyPr wrap="square" lIns="0" tIns="0" rIns="0" bIns="0" rtlCol="0" anchor="ctr"/>
          <a:lstStyle/>
          <a:p>
            <a:pPr marL="0" indent="0">
              <a:buNone/>
            </a:pPr>
            <a:r>
              <a:rPr lang="en-US" sz="1200" dirty="0"/>
              <a:t>Forecast PM2.5 with uncertainty and explain it with cited sources</a:t>
            </a:r>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Dataset Declaration</a:t>
            </a:r>
            <a:endParaRPr lang="en-US" sz="3200" dirty="0"/>
          </a:p>
        </p:txBody>
      </p:sp>
      <p:graphicFrame>
        <p:nvGraphicFramePr>
          <p:cNvPr id="4" name="Dataset table"/>
          <p:cNvGraphicFramePr>
            <a:graphicFrameLocks noGrp="1"/>
          </p:cNvGraphicFramePr>
          <p:nvPr>
            <p:extLst>
              <p:ext uri="{D42A27DB-BD31-4B8C-83A1-F6EECF244321}">
                <p14:modId xmlns:p14="http://schemas.microsoft.com/office/powerpoint/2010/main" val="2280886784"/>
              </p:ext>
            </p:extLst>
          </p:nvPr>
        </p:nvGraphicFramePr>
        <p:xfrm>
          <a:off x="457200" y="1188720"/>
          <a:ext cx="5486400" cy="3182112"/>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530352">
                <a:tc>
                  <a:txBody>
                    <a:bodyPr/>
                    <a:lstStyle/>
                    <a:p>
                      <a:pPr marL="0" indent="0">
                        <a:buNone/>
                      </a:pPr>
                      <a:r>
                        <a:rPr lang="en-US" sz="1400" b="1" dirty="0">
                          <a:solidFill>
                            <a:schemeClr val="tx2"/>
                          </a:solidFill>
                        </a:rPr>
                        <a:t>Dataset name</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Pakistan hourly PM2.5 + weather (4 cities)</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0"/>
                  </a:ext>
                </a:extLst>
              </a:tr>
              <a:tr h="530352">
                <a:tc>
                  <a:txBody>
                    <a:bodyPr/>
                    <a:lstStyle/>
                    <a:p>
                      <a:pPr marL="0" indent="0">
                        <a:buNone/>
                      </a:pPr>
                      <a:r>
                        <a:rPr lang="en-US" sz="1400" b="1" dirty="0">
                          <a:solidFill>
                            <a:schemeClr val="tx2"/>
                          </a:solidFill>
                        </a:rPr>
                        <a:t>Source / link</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t>OpenAQ</a:t>
                      </a:r>
                      <a:r>
                        <a:rPr lang="en-US" sz="1200" dirty="0"/>
                        <a:t> v3 API (openaq.org) + Open-</a:t>
                      </a:r>
                      <a:r>
                        <a:rPr lang="en-US" sz="1200" dirty="0" err="1"/>
                        <a:t>Meteo</a:t>
                      </a:r>
                      <a:r>
                        <a:rPr lang="en-US" sz="1200" dirty="0"/>
                        <a:t> archive API (open-meteo.com)</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400" b="1" dirty="0">
                          <a:solidFill>
                            <a:schemeClr val="tx2"/>
                          </a:solidFill>
                        </a:rPr>
                        <a:t>Size</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6"/>
                          </a:solidFill>
                        </a:rPr>
                        <a:t>[500K] (500,211 total: 331,731 PM2.5 + 168,480 weather)</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400" b="1" dirty="0">
                          <a:solidFill>
                            <a:schemeClr val="tx2"/>
                          </a:solidFill>
                        </a:rPr>
                        <a:t>Time period</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Jan 2022 – Oct 2026</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400" b="1" dirty="0">
                          <a:solidFill>
                            <a:schemeClr val="tx2"/>
                          </a:solidFill>
                        </a:rPr>
                        <a:t>Format &amp; license</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Parquet → </a:t>
                      </a:r>
                      <a:r>
                        <a:rPr lang="en-US" sz="1200" dirty="0" err="1"/>
                        <a:t>DuckDB</a:t>
                      </a:r>
                      <a:r>
                        <a:rPr lang="en-US" sz="1200" dirty="0"/>
                        <a:t>; CC-BY-4.0 (per manifest.csv)</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400" b="1" dirty="0">
                          <a:solidFill>
                            <a:schemeClr val="tx2"/>
                          </a:solidFill>
                        </a:rPr>
                        <a:t>Key features / target</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Target: pm25_ugm3. Lags, rolling stats, hour/season, 8 weather variables</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Stat card 1"/>
          <p:cNvSpPr/>
          <p:nvPr/>
        </p:nvSpPr>
        <p:spPr>
          <a:xfrm>
            <a:off x="6217920" y="1188720"/>
            <a:ext cx="2468880" cy="1005840"/>
          </a:xfrm>
          <a:prstGeom prst="roundRect">
            <a:avLst>
              <a:gd name="adj" fmla="val 9091"/>
            </a:avLst>
          </a:prstGeom>
          <a:solidFill>
            <a:schemeClr val="tx2"/>
          </a:solidFill>
          <a:ln/>
        </p:spPr>
      </p:sp>
      <p:sp>
        <p:nvSpPr>
          <p:cNvPr id="5" name="Text 2"/>
          <p:cNvSpPr txBox="1"/>
          <p:nvPr/>
        </p:nvSpPr>
        <p:spPr>
          <a:xfrm>
            <a:off x="6217920" y="1298448"/>
            <a:ext cx="2468880" cy="502920"/>
          </a:xfrm>
          <a:prstGeom prst="rect">
            <a:avLst/>
          </a:prstGeom>
          <a:noFill/>
          <a:ln/>
        </p:spPr>
        <p:txBody>
          <a:bodyPr wrap="square" lIns="0" tIns="0" rIns="0" bIns="0" rtlCol="0" anchor="ctr"/>
          <a:lstStyle/>
          <a:p>
            <a:pPr marL="0" indent="0" algn="ctr">
              <a:buNone/>
            </a:pPr>
            <a:r>
              <a:rPr lang="en-US" sz="2800" b="1" dirty="0">
                <a:solidFill>
                  <a:schemeClr val="bg1"/>
                </a:solidFill>
              </a:rPr>
              <a:t>[500K]</a:t>
            </a:r>
            <a:endParaRPr lang="en-US" sz="2800" dirty="0"/>
          </a:p>
        </p:txBody>
      </p:sp>
      <p:sp>
        <p:nvSpPr>
          <p:cNvPr id="6" name="Text 3"/>
          <p:cNvSpPr txBox="1"/>
          <p:nvPr/>
        </p:nvSpPr>
        <p:spPr>
          <a:xfrm>
            <a:off x="6217920" y="1828800"/>
            <a:ext cx="2468880" cy="274320"/>
          </a:xfrm>
          <a:prstGeom prst="rect">
            <a:avLst/>
          </a:prstGeom>
          <a:noFill/>
          <a:ln/>
        </p:spPr>
        <p:txBody>
          <a:bodyPr wrap="square" lIns="0" tIns="0" rIns="0" bIns="0" rtlCol="0" anchor="ctr"/>
          <a:lstStyle/>
          <a:p>
            <a:pPr marL="0" indent="0" algn="ctr">
              <a:buNone/>
            </a:pPr>
            <a:r>
              <a:rPr lang="en-US" sz="1200" dirty="0">
                <a:solidFill>
                  <a:schemeClr val="accent4"/>
                </a:solidFill>
              </a:rPr>
              <a:t>Rows / records</a:t>
            </a:r>
            <a:endParaRPr lang="en-US" sz="1200" dirty="0"/>
          </a:p>
        </p:txBody>
      </p:sp>
      <p:sp>
        <p:nvSpPr>
          <p:cNvPr id="7" name="Stat card 2"/>
          <p:cNvSpPr/>
          <p:nvPr/>
        </p:nvSpPr>
        <p:spPr>
          <a:xfrm>
            <a:off x="6217920" y="2331720"/>
            <a:ext cx="2468880" cy="1005840"/>
          </a:xfrm>
          <a:prstGeom prst="roundRect">
            <a:avLst>
              <a:gd name="adj" fmla="val 9091"/>
            </a:avLst>
          </a:prstGeom>
          <a:solidFill>
            <a:schemeClr val="tx2"/>
          </a:solidFill>
          <a:ln/>
        </p:spPr>
      </p:sp>
      <p:sp>
        <p:nvSpPr>
          <p:cNvPr id="8" name="Text 5"/>
          <p:cNvSpPr txBox="1"/>
          <p:nvPr/>
        </p:nvSpPr>
        <p:spPr>
          <a:xfrm>
            <a:off x="6217920" y="2441448"/>
            <a:ext cx="2468880" cy="502920"/>
          </a:xfrm>
          <a:prstGeom prst="rect">
            <a:avLst/>
          </a:prstGeom>
          <a:noFill/>
          <a:ln/>
        </p:spPr>
        <p:txBody>
          <a:bodyPr wrap="square" lIns="0" tIns="0" rIns="0" bIns="0" rtlCol="0" anchor="ctr"/>
          <a:lstStyle/>
          <a:p>
            <a:pPr marL="0" indent="0" algn="ctr">
              <a:buNone/>
            </a:pPr>
            <a:r>
              <a:rPr lang="en-US" sz="2800" b="1" dirty="0">
                <a:solidFill>
                  <a:schemeClr val="bg1"/>
                </a:solidFill>
              </a:rPr>
              <a:t>[27]</a:t>
            </a:r>
            <a:endParaRPr lang="en-US" sz="2800" dirty="0"/>
          </a:p>
        </p:txBody>
      </p:sp>
      <p:sp>
        <p:nvSpPr>
          <p:cNvPr id="9" name="Text 6"/>
          <p:cNvSpPr txBox="1"/>
          <p:nvPr/>
        </p:nvSpPr>
        <p:spPr>
          <a:xfrm>
            <a:off x="6217920" y="2971800"/>
            <a:ext cx="2468880" cy="274320"/>
          </a:xfrm>
          <a:prstGeom prst="rect">
            <a:avLst/>
          </a:prstGeom>
          <a:noFill/>
          <a:ln/>
        </p:spPr>
        <p:txBody>
          <a:bodyPr wrap="square" lIns="0" tIns="0" rIns="0" bIns="0" rtlCol="0" anchor="ctr"/>
          <a:lstStyle/>
          <a:p>
            <a:pPr marL="0" indent="0" algn="ctr">
              <a:buNone/>
            </a:pPr>
            <a:r>
              <a:rPr lang="en-US" sz="1200" dirty="0">
                <a:solidFill>
                  <a:schemeClr val="accent4"/>
                </a:solidFill>
              </a:rPr>
              <a:t>Columns / features</a:t>
            </a:r>
            <a:endParaRPr lang="en-US" sz="1200" dirty="0"/>
          </a:p>
        </p:txBody>
      </p:sp>
      <p:sp>
        <p:nvSpPr>
          <p:cNvPr id="10" name="Stat card 3"/>
          <p:cNvSpPr/>
          <p:nvPr/>
        </p:nvSpPr>
        <p:spPr>
          <a:xfrm>
            <a:off x="6217920" y="3474720"/>
            <a:ext cx="2468880" cy="1005840"/>
          </a:xfrm>
          <a:prstGeom prst="roundRect">
            <a:avLst>
              <a:gd name="adj" fmla="val 9091"/>
            </a:avLst>
          </a:prstGeom>
          <a:solidFill>
            <a:schemeClr val="tx2"/>
          </a:solidFill>
          <a:ln/>
        </p:spPr>
      </p:sp>
      <p:sp>
        <p:nvSpPr>
          <p:cNvPr id="11" name="Text 8"/>
          <p:cNvSpPr txBox="1"/>
          <p:nvPr/>
        </p:nvSpPr>
        <p:spPr>
          <a:xfrm>
            <a:off x="6217920" y="3584448"/>
            <a:ext cx="2468880" cy="502920"/>
          </a:xfrm>
          <a:prstGeom prst="rect">
            <a:avLst/>
          </a:prstGeom>
          <a:noFill/>
          <a:ln/>
        </p:spPr>
        <p:txBody>
          <a:bodyPr wrap="square" lIns="0" tIns="0" rIns="0" bIns="0" rtlCol="0" anchor="ctr"/>
          <a:lstStyle/>
          <a:p>
            <a:pPr marL="0" indent="0" algn="ctr">
              <a:buNone/>
            </a:pPr>
            <a:r>
              <a:rPr lang="en-US" sz="2800" b="1" dirty="0">
                <a:solidFill>
                  <a:schemeClr val="bg1"/>
                </a:solidFill>
              </a:rPr>
              <a:t>[20 MB]</a:t>
            </a:r>
            <a:endParaRPr lang="en-US" sz="2800" dirty="0"/>
          </a:p>
        </p:txBody>
      </p:sp>
      <p:sp>
        <p:nvSpPr>
          <p:cNvPr id="12" name="Text 9"/>
          <p:cNvSpPr txBox="1"/>
          <p:nvPr/>
        </p:nvSpPr>
        <p:spPr>
          <a:xfrm>
            <a:off x="6217920" y="4114800"/>
            <a:ext cx="2468880" cy="274320"/>
          </a:xfrm>
          <a:prstGeom prst="rect">
            <a:avLst/>
          </a:prstGeom>
          <a:noFill/>
          <a:ln/>
        </p:spPr>
        <p:txBody>
          <a:bodyPr wrap="square" lIns="0" tIns="0" rIns="0" bIns="0" rtlCol="0" anchor="ctr"/>
          <a:lstStyle/>
          <a:p>
            <a:pPr marL="0" indent="0" algn="ctr">
              <a:buNone/>
            </a:pPr>
            <a:r>
              <a:rPr lang="en-US" sz="1200" dirty="0">
                <a:solidFill>
                  <a:schemeClr val="accent4"/>
                </a:solidFill>
              </a:rPr>
              <a:t>Dataset size</a:t>
            </a:r>
            <a:endParaRPr lang="en-US" sz="12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3</a:t>
            </a:fld>
            <a:endParaRPr lang="en-US"/>
          </a:p>
        </p:txBody>
      </p:sp>
      <p:sp>
        <p:nvSpPr>
          <p:cNvPr id="14" name="Rectangle 2">
            <a:extLst>
              <a:ext uri="{FF2B5EF4-FFF2-40B4-BE49-F238E27FC236}">
                <a16:creationId xmlns:a16="http://schemas.microsoft.com/office/drawing/2014/main" id="{8D743528-F0B4-0B46-C273-6708AEB6BDB9}"/>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409K</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Pipeline Used</a:t>
            </a:r>
            <a:endParaRPr lang="en-US" sz="3200" dirty="0"/>
          </a:p>
        </p:txBody>
      </p:sp>
      <p:sp>
        <p:nvSpPr>
          <p:cNvPr id="3" name="Stage card 1"/>
          <p:cNvSpPr/>
          <p:nvPr/>
        </p:nvSpPr>
        <p:spPr>
          <a:xfrm>
            <a:off x="457200" y="1280160"/>
            <a:ext cx="1417320" cy="2377440"/>
          </a:xfrm>
          <a:prstGeom prst="roundRect">
            <a:avLst>
              <a:gd name="adj" fmla="val 6452"/>
            </a:avLst>
          </a:prstGeom>
          <a:solidFill>
            <a:schemeClr val="bg2"/>
          </a:solidFill>
          <a:ln/>
        </p:spPr>
      </p:sp>
      <p:sp>
        <p:nvSpPr>
          <p:cNvPr id="4" name="Stage number 1"/>
          <p:cNvSpPr txBox="1"/>
          <p:nvPr/>
        </p:nvSpPr>
        <p:spPr>
          <a:xfrm>
            <a:off x="98298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54864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Data Collection</a:t>
            </a:r>
            <a:endParaRPr lang="en-US" sz="1400" dirty="0"/>
          </a:p>
        </p:txBody>
      </p:sp>
      <p:sp>
        <p:nvSpPr>
          <p:cNvPr id="6" name="Text 4"/>
          <p:cNvSpPr txBox="1"/>
          <p:nvPr/>
        </p:nvSpPr>
        <p:spPr>
          <a:xfrm>
            <a:off x="548640" y="2788920"/>
            <a:ext cx="1234440" cy="640080"/>
          </a:xfrm>
          <a:prstGeom prst="rect">
            <a:avLst/>
          </a:prstGeom>
          <a:noFill/>
          <a:ln/>
        </p:spPr>
        <p:txBody>
          <a:bodyPr wrap="square" lIns="0" tIns="0" rIns="0" bIns="0" rtlCol="0" anchor="t"/>
          <a:lstStyle/>
          <a:p>
            <a:pPr marL="0" indent="0" algn="ctr">
              <a:buNone/>
            </a:pPr>
            <a:r>
              <a:rPr lang="en-US" sz="1200" dirty="0" err="1"/>
              <a:t>OpenAQ</a:t>
            </a:r>
            <a:r>
              <a:rPr lang="en-US" sz="1200" dirty="0"/>
              <a:t> + Open-</a:t>
            </a:r>
            <a:r>
              <a:rPr lang="en-US" sz="1200" dirty="0" err="1"/>
              <a:t>Meteo</a:t>
            </a:r>
            <a:r>
              <a:rPr lang="en-US" sz="1200" dirty="0"/>
              <a:t> APIs</a:t>
            </a:r>
          </a:p>
        </p:txBody>
      </p:sp>
      <p:sp>
        <p:nvSpPr>
          <p:cNvPr id="7" name="Arrow 1"/>
          <p:cNvSpPr/>
          <p:nvPr/>
        </p:nvSpPr>
        <p:spPr>
          <a:xfrm>
            <a:off x="1920240" y="2377440"/>
            <a:ext cx="182880" cy="228600"/>
          </a:xfrm>
          <a:prstGeom prst="rightArrow">
            <a:avLst/>
          </a:prstGeom>
          <a:solidFill>
            <a:schemeClr val="accent1"/>
          </a:solidFill>
          <a:ln/>
        </p:spPr>
      </p:sp>
      <p:sp>
        <p:nvSpPr>
          <p:cNvPr id="8" name="Stage card 2"/>
          <p:cNvSpPr/>
          <p:nvPr/>
        </p:nvSpPr>
        <p:spPr>
          <a:xfrm>
            <a:off x="2148840" y="1280160"/>
            <a:ext cx="1417320" cy="2377440"/>
          </a:xfrm>
          <a:prstGeom prst="roundRect">
            <a:avLst>
              <a:gd name="adj" fmla="val 6452"/>
            </a:avLst>
          </a:prstGeom>
          <a:solidFill>
            <a:schemeClr val="bg2"/>
          </a:solidFill>
          <a:ln/>
        </p:spPr>
      </p:sp>
      <p:sp>
        <p:nvSpPr>
          <p:cNvPr id="9" name="Stage number 2"/>
          <p:cNvSpPr txBox="1"/>
          <p:nvPr/>
        </p:nvSpPr>
        <p:spPr>
          <a:xfrm>
            <a:off x="267462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8"/>
          <p:cNvSpPr txBox="1"/>
          <p:nvPr/>
        </p:nvSpPr>
        <p:spPr>
          <a:xfrm>
            <a:off x="224028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Data Cleaning</a:t>
            </a:r>
            <a:endParaRPr lang="en-US" sz="1400" dirty="0"/>
          </a:p>
        </p:txBody>
      </p:sp>
      <p:sp>
        <p:nvSpPr>
          <p:cNvPr id="11" name="Text 9"/>
          <p:cNvSpPr txBox="1"/>
          <p:nvPr/>
        </p:nvSpPr>
        <p:spPr>
          <a:xfrm>
            <a:off x="2240280" y="2788920"/>
            <a:ext cx="1234440" cy="640080"/>
          </a:xfrm>
          <a:prstGeom prst="rect">
            <a:avLst/>
          </a:prstGeom>
          <a:noFill/>
          <a:ln/>
        </p:spPr>
        <p:txBody>
          <a:bodyPr wrap="square" lIns="0" tIns="0" rIns="0" bIns="0" rtlCol="0" anchor="t"/>
          <a:lstStyle/>
          <a:p>
            <a:pPr marL="0" indent="0" algn="ctr">
              <a:buNone/>
            </a:pPr>
            <a:r>
              <a:rPr lang="en-US" sz="1200" dirty="0"/>
              <a:t>UTC, dedupe, range checks</a:t>
            </a:r>
          </a:p>
        </p:txBody>
      </p:sp>
      <p:sp>
        <p:nvSpPr>
          <p:cNvPr id="12" name="Arrow 2"/>
          <p:cNvSpPr/>
          <p:nvPr/>
        </p:nvSpPr>
        <p:spPr>
          <a:xfrm>
            <a:off x="3611880" y="2377440"/>
            <a:ext cx="182880" cy="228600"/>
          </a:xfrm>
          <a:prstGeom prst="rightArrow">
            <a:avLst/>
          </a:prstGeom>
          <a:solidFill>
            <a:schemeClr val="accent1"/>
          </a:solidFill>
          <a:ln/>
        </p:spPr>
      </p:sp>
      <p:sp>
        <p:nvSpPr>
          <p:cNvPr id="13" name="Stage card 3"/>
          <p:cNvSpPr/>
          <p:nvPr/>
        </p:nvSpPr>
        <p:spPr>
          <a:xfrm>
            <a:off x="3840480" y="1280160"/>
            <a:ext cx="1417320" cy="2377440"/>
          </a:xfrm>
          <a:prstGeom prst="roundRect">
            <a:avLst>
              <a:gd name="adj" fmla="val 6452"/>
            </a:avLst>
          </a:prstGeom>
          <a:solidFill>
            <a:schemeClr val="bg2"/>
          </a:solidFill>
          <a:ln/>
        </p:spPr>
      </p:sp>
      <p:sp>
        <p:nvSpPr>
          <p:cNvPr id="14" name="Stage number 3"/>
          <p:cNvSpPr txBox="1"/>
          <p:nvPr/>
        </p:nvSpPr>
        <p:spPr>
          <a:xfrm>
            <a:off x="436626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3"/>
          <p:cNvSpPr txBox="1"/>
          <p:nvPr/>
        </p:nvSpPr>
        <p:spPr>
          <a:xfrm>
            <a:off x="393192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Analysis / EDA</a:t>
            </a:r>
            <a:endParaRPr lang="en-US" sz="1400" dirty="0"/>
          </a:p>
        </p:txBody>
      </p:sp>
      <p:sp>
        <p:nvSpPr>
          <p:cNvPr id="16" name="Text 14"/>
          <p:cNvSpPr txBox="1"/>
          <p:nvPr/>
        </p:nvSpPr>
        <p:spPr>
          <a:xfrm>
            <a:off x="3931920" y="2788920"/>
            <a:ext cx="1234440" cy="640080"/>
          </a:xfrm>
          <a:prstGeom prst="rect">
            <a:avLst/>
          </a:prstGeom>
          <a:noFill/>
          <a:ln/>
        </p:spPr>
        <p:txBody>
          <a:bodyPr wrap="square" lIns="0" tIns="0" rIns="0" bIns="0" rtlCol="0" anchor="t"/>
          <a:lstStyle/>
          <a:p>
            <a:pPr marL="0" indent="0" algn="ctr">
              <a:buNone/>
            </a:pPr>
            <a:r>
              <a:rPr lang="en-US" sz="1200" dirty="0"/>
              <a:t>Lags, rolling, seasonal features</a:t>
            </a:r>
          </a:p>
        </p:txBody>
      </p:sp>
      <p:sp>
        <p:nvSpPr>
          <p:cNvPr id="17" name="Arrow 3"/>
          <p:cNvSpPr/>
          <p:nvPr/>
        </p:nvSpPr>
        <p:spPr>
          <a:xfrm>
            <a:off x="5303520" y="2377440"/>
            <a:ext cx="182880" cy="228600"/>
          </a:xfrm>
          <a:prstGeom prst="rightArrow">
            <a:avLst/>
          </a:prstGeom>
          <a:solidFill>
            <a:schemeClr val="accent1"/>
          </a:solidFill>
          <a:ln/>
        </p:spPr>
      </p:sp>
      <p:sp>
        <p:nvSpPr>
          <p:cNvPr id="18" name="Stage card 4"/>
          <p:cNvSpPr/>
          <p:nvPr/>
        </p:nvSpPr>
        <p:spPr>
          <a:xfrm>
            <a:off x="5532120" y="1280160"/>
            <a:ext cx="1417320" cy="2377440"/>
          </a:xfrm>
          <a:prstGeom prst="roundRect">
            <a:avLst>
              <a:gd name="adj" fmla="val 6452"/>
            </a:avLst>
          </a:prstGeom>
          <a:solidFill>
            <a:schemeClr val="bg2"/>
          </a:solidFill>
          <a:ln/>
        </p:spPr>
      </p:sp>
      <p:sp>
        <p:nvSpPr>
          <p:cNvPr id="19" name="Stage number 4"/>
          <p:cNvSpPr txBox="1"/>
          <p:nvPr/>
        </p:nvSpPr>
        <p:spPr>
          <a:xfrm>
            <a:off x="605790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0" name="Text 18"/>
          <p:cNvSpPr txBox="1"/>
          <p:nvPr/>
        </p:nvSpPr>
        <p:spPr>
          <a:xfrm>
            <a:off x="5623560" y="1965960"/>
            <a:ext cx="1234440" cy="411480"/>
          </a:xfrm>
          <a:prstGeom prst="rect">
            <a:avLst/>
          </a:prstGeom>
          <a:noFill/>
          <a:ln/>
        </p:spPr>
        <p:txBody>
          <a:bodyPr wrap="square" lIns="0" tIns="0" rIns="0" bIns="0" rtlCol="0" anchor="t"/>
          <a:lstStyle/>
          <a:p>
            <a:pPr marL="0" indent="0" algn="ctr">
              <a:buNone/>
            </a:pPr>
            <a:r>
              <a:rPr lang="en-US" sz="1400" b="1" dirty="0">
                <a:solidFill>
                  <a:schemeClr val="tx2"/>
                </a:solidFill>
              </a:rPr>
              <a:t>Modeling</a:t>
            </a:r>
            <a:endParaRPr lang="en-US" sz="1400" dirty="0"/>
          </a:p>
        </p:txBody>
      </p:sp>
      <p:sp>
        <p:nvSpPr>
          <p:cNvPr id="21" name="Text 19"/>
          <p:cNvSpPr txBox="1"/>
          <p:nvPr/>
        </p:nvSpPr>
        <p:spPr>
          <a:xfrm>
            <a:off x="5623560" y="2788920"/>
            <a:ext cx="1234440" cy="640080"/>
          </a:xfrm>
          <a:prstGeom prst="rect">
            <a:avLst/>
          </a:prstGeom>
          <a:noFill/>
          <a:ln/>
        </p:spPr>
        <p:txBody>
          <a:bodyPr wrap="square" lIns="0" tIns="0" rIns="0" bIns="0" rtlCol="0" anchor="t"/>
          <a:lstStyle/>
          <a:p>
            <a:pPr marL="0" indent="0" algn="ctr">
              <a:buNone/>
            </a:pPr>
            <a:r>
              <a:rPr lang="en-US" sz="1200" dirty="0" err="1"/>
              <a:t>LightGBM</a:t>
            </a:r>
            <a:r>
              <a:rPr lang="en-US" sz="1200" dirty="0"/>
              <a:t> + </a:t>
            </a:r>
            <a:r>
              <a:rPr lang="en-US" sz="1200" dirty="0" err="1"/>
              <a:t>CatBoost</a:t>
            </a:r>
            <a:r>
              <a:rPr lang="en-US" sz="1200" dirty="0"/>
              <a:t> quantiles</a:t>
            </a:r>
          </a:p>
        </p:txBody>
      </p:sp>
      <p:sp>
        <p:nvSpPr>
          <p:cNvPr id="22" name="Arrow 4"/>
          <p:cNvSpPr/>
          <p:nvPr/>
        </p:nvSpPr>
        <p:spPr>
          <a:xfrm>
            <a:off x="6995160" y="2377440"/>
            <a:ext cx="182880" cy="228600"/>
          </a:xfrm>
          <a:prstGeom prst="rightArrow">
            <a:avLst/>
          </a:prstGeom>
          <a:solidFill>
            <a:schemeClr val="accent1"/>
          </a:solidFill>
          <a:ln/>
        </p:spPr>
      </p:sp>
      <p:sp>
        <p:nvSpPr>
          <p:cNvPr id="23" name="Stage card 5"/>
          <p:cNvSpPr/>
          <p:nvPr/>
        </p:nvSpPr>
        <p:spPr>
          <a:xfrm>
            <a:off x="7223760" y="1280160"/>
            <a:ext cx="1417320" cy="2377440"/>
          </a:xfrm>
          <a:prstGeom prst="roundRect">
            <a:avLst>
              <a:gd name="adj" fmla="val 6452"/>
            </a:avLst>
          </a:prstGeom>
          <a:solidFill>
            <a:schemeClr val="bg2"/>
          </a:solidFill>
          <a:ln/>
        </p:spPr>
      </p:sp>
      <p:sp>
        <p:nvSpPr>
          <p:cNvPr id="24" name="Stage number 5"/>
          <p:cNvSpPr txBox="1"/>
          <p:nvPr/>
        </p:nvSpPr>
        <p:spPr>
          <a:xfrm>
            <a:off x="774954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5" name="Text 23"/>
          <p:cNvSpPr txBox="1"/>
          <p:nvPr/>
        </p:nvSpPr>
        <p:spPr>
          <a:xfrm>
            <a:off x="731520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Dashboard / App</a:t>
            </a:r>
            <a:endParaRPr lang="en-US" sz="1400" dirty="0"/>
          </a:p>
        </p:txBody>
      </p:sp>
      <p:sp>
        <p:nvSpPr>
          <p:cNvPr id="26" name="Text 24"/>
          <p:cNvSpPr txBox="1"/>
          <p:nvPr/>
        </p:nvSpPr>
        <p:spPr>
          <a:xfrm>
            <a:off x="7315200" y="2788920"/>
            <a:ext cx="1234440" cy="640080"/>
          </a:xfrm>
          <a:prstGeom prst="rect">
            <a:avLst/>
          </a:prstGeom>
          <a:noFill/>
          <a:ln/>
        </p:spPr>
        <p:txBody>
          <a:bodyPr wrap="square" lIns="0" tIns="0" rIns="0" bIns="0" rtlCol="0" anchor="t"/>
          <a:lstStyle/>
          <a:p>
            <a:pPr marL="0" indent="0" algn="ctr">
              <a:buNone/>
            </a:pPr>
            <a:r>
              <a:rPr lang="en-US" sz="1200" dirty="0" err="1"/>
              <a:t>FastAPI</a:t>
            </a:r>
            <a:r>
              <a:rPr lang="en-US" sz="1200" dirty="0"/>
              <a:t> + React, hourly Prefect</a:t>
            </a:r>
          </a:p>
        </p:txBody>
      </p:sp>
      <p:sp>
        <p:nvSpPr>
          <p:cNvPr id="27" name="Summary bar"/>
          <p:cNvSpPr/>
          <p:nvPr/>
        </p:nvSpPr>
        <p:spPr>
          <a:xfrm>
            <a:off x="457200" y="3886200"/>
            <a:ext cx="8229600" cy="594360"/>
          </a:xfrm>
          <a:prstGeom prst="roundRect">
            <a:avLst>
              <a:gd name="adj" fmla="val 15385"/>
            </a:avLst>
          </a:prstGeom>
          <a:solidFill>
            <a:schemeClr val="tx2"/>
          </a:solidFill>
          <a:ln/>
        </p:spPr>
      </p:sp>
      <p:sp>
        <p:nvSpPr>
          <p:cNvPr id="28" name="Text 26"/>
          <p:cNvSpPr txBox="1"/>
          <p:nvPr/>
        </p:nvSpPr>
        <p:spPr>
          <a:xfrm>
            <a:off x="731520" y="3886200"/>
            <a:ext cx="7680960" cy="594360"/>
          </a:xfrm>
          <a:prstGeom prst="rect">
            <a:avLst/>
          </a:prstGeom>
          <a:noFill/>
          <a:ln/>
        </p:spPr>
        <p:txBody>
          <a:bodyPr wrap="square" lIns="0" tIns="0" rIns="0" bIns="0" rtlCol="0" anchor="ctr"/>
          <a:lstStyle/>
          <a:p>
            <a:pPr marL="0" indent="0">
              <a:buNone/>
            </a:pPr>
            <a:r>
              <a:rPr lang="en-US" sz="1400" dirty="0">
                <a:solidFill>
                  <a:schemeClr val="bg1"/>
                </a:solidFill>
              </a:rPr>
              <a:t>Raw sensor + weather data in -&gt; cited PM2.5 forecasts with uncertainty bands out</a:t>
            </a:r>
            <a:endParaRPr lang="en-US" sz="1400" dirty="0"/>
          </a:p>
        </p:txBody>
      </p:sp>
      <p:sp>
        <p:nvSpPr>
          <p:cNvPr id="29"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Pipeline Details &amp; Tools</a:t>
            </a:r>
            <a:endParaRPr lang="en-US" sz="3200" dirty="0"/>
          </a:p>
        </p:txBody>
      </p:sp>
      <p:graphicFrame>
        <p:nvGraphicFramePr>
          <p:cNvPr id="6" name="Tools table"/>
          <p:cNvGraphicFramePr>
            <a:graphicFrameLocks noGrp="1"/>
          </p:cNvGraphicFramePr>
          <p:nvPr>
            <p:extLst>
              <p:ext uri="{D42A27DB-BD31-4B8C-83A1-F6EECF244321}">
                <p14:modId xmlns:p14="http://schemas.microsoft.com/office/powerpoint/2010/main" val="140978148"/>
              </p:ext>
            </p:extLst>
          </p:nvPr>
        </p:nvGraphicFramePr>
        <p:xfrm>
          <a:off x="457200" y="1188720"/>
          <a:ext cx="8229600" cy="3291840"/>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Stage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Tools / Libraries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What we did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2"/>
                          </a:solidFill>
                        </a:rPr>
                        <a:t>Collection</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6"/>
                          </a:solidFill>
                        </a:rPr>
                        <a:t>requests, </a:t>
                      </a:r>
                      <a:r>
                        <a:rPr lang="en-US" sz="1200" dirty="0" err="1">
                          <a:solidFill>
                            <a:schemeClr val="accent6"/>
                          </a:solidFill>
                        </a:rPr>
                        <a:t>OpenAQ</a:t>
                      </a:r>
                      <a:r>
                        <a:rPr lang="en-US" sz="1200" dirty="0">
                          <a:solidFill>
                            <a:schemeClr val="accent6"/>
                          </a:solidFill>
                        </a:rPr>
                        <a:t> v3, Open-</a:t>
                      </a:r>
                      <a:r>
                        <a:rPr lang="en-US" sz="1200" dirty="0" err="1">
                          <a:solidFill>
                            <a:schemeClr val="accent6"/>
                          </a:solidFill>
                        </a:rPr>
                        <a:t>Meteo</a:t>
                      </a:r>
                      <a:r>
                        <a:rPr lang="en-US" sz="1200" dirty="0">
                          <a:solidFill>
                            <a:schemeClr val="accent6"/>
                          </a:solidFill>
                        </a:rPr>
                        <a:t>, Parquet</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Paginated, rate-limited fetch with SHA-256 manifest for reproducibility</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2"/>
                          </a:solidFill>
                        </a:rPr>
                        <a:t>Preprocessing</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6"/>
                          </a:solidFill>
                        </a:rPr>
                        <a:t>Pandas, </a:t>
                      </a:r>
                      <a:r>
                        <a:rPr lang="en-US" sz="1200" dirty="0" err="1">
                          <a:solidFill>
                            <a:schemeClr val="accent6"/>
                          </a:solidFill>
                        </a:rPr>
                        <a:t>DuckDB</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err="1">
                          <a:solidFill>
                            <a:schemeClr val="accent6"/>
                          </a:solidFill>
                        </a:rPr>
                        <a:t>Standardised</a:t>
                      </a:r>
                      <a:r>
                        <a:rPr lang="en-US" sz="1200" dirty="0">
                          <a:solidFill>
                            <a:schemeClr val="accent6"/>
                          </a:solidFill>
                        </a:rPr>
                        <a:t> to UTC, deduped, flagged outliers, and logged every decision</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2"/>
                          </a:solidFill>
                        </a:rPr>
                        <a:t>Analysis / EDA</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solidFill>
                            <a:schemeClr val="accent6"/>
                          </a:solidFill>
                        </a:rPr>
                        <a:t>DuckDB</a:t>
                      </a:r>
                      <a:r>
                        <a:rPr lang="en-US" sz="1200" dirty="0">
                          <a:solidFill>
                            <a:schemeClr val="accent6"/>
                          </a:solidFill>
                        </a:rPr>
                        <a:t> SQL</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Built 27 columns: lags, shifted rolling stats, time and weather features, no leakage</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2"/>
                          </a:solidFill>
                        </a:rPr>
                        <a:t>Modeling</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solidFill>
                            <a:schemeClr val="accent6"/>
                          </a:solidFill>
                        </a:rPr>
                        <a:t>LightGBM</a:t>
                      </a:r>
                      <a:r>
                        <a:rPr lang="en-US" sz="1200" dirty="0">
                          <a:solidFill>
                            <a:schemeClr val="accent6"/>
                          </a:solidFill>
                        </a:rPr>
                        <a:t>, </a:t>
                      </a:r>
                      <a:r>
                        <a:rPr lang="en-US" sz="1200" dirty="0" err="1">
                          <a:solidFill>
                            <a:schemeClr val="accent6"/>
                          </a:solidFill>
                        </a:rPr>
                        <a:t>CatBoost</a:t>
                      </a:r>
                      <a:r>
                        <a:rPr lang="en-US" sz="1200" dirty="0">
                          <a:solidFill>
                            <a:schemeClr val="accent6"/>
                          </a:solidFill>
                        </a:rPr>
                        <a:t>, scikit-learn</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Median + 80% interval models, averaged; time-based split vs persistence baseline</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2"/>
                          </a:solidFill>
                        </a:rPr>
                        <a:t>Dashboard / App</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solidFill>
                            <a:schemeClr val="accent6"/>
                          </a:solidFill>
                        </a:rPr>
                        <a:t>FastAPI</a:t>
                      </a:r>
                      <a:r>
                        <a:rPr lang="en-US" sz="1200" dirty="0">
                          <a:solidFill>
                            <a:schemeClr val="accent6"/>
                          </a:solidFill>
                        </a:rPr>
                        <a:t>, React, Prefect, </a:t>
                      </a:r>
                      <a:r>
                        <a:rPr lang="en-US" sz="1200" dirty="0" err="1">
                          <a:solidFill>
                            <a:schemeClr val="accent6"/>
                          </a:solidFill>
                        </a:rPr>
                        <a:t>ChromaDB</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Hourly flow refreshes forecasts; RAG agent answers with citations</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Dashboard / App Views</a:t>
            </a:r>
            <a:endParaRPr lang="en-US" sz="3200" dirty="0"/>
          </a:p>
        </p:txBody>
      </p:sp>
      <p:sp>
        <p:nvSpPr>
          <p:cNvPr id="7" name="Text 5"/>
          <p:cNvSpPr txBox="1"/>
          <p:nvPr/>
        </p:nvSpPr>
        <p:spPr>
          <a:xfrm>
            <a:off x="1156545" y="3780905"/>
            <a:ext cx="3108960" cy="320040"/>
          </a:xfrm>
          <a:prstGeom prst="rect">
            <a:avLst/>
          </a:prstGeom>
          <a:noFill/>
          <a:ln/>
        </p:spPr>
        <p:txBody>
          <a:bodyPr wrap="square" lIns="0" tIns="0" rIns="0" bIns="0" rtlCol="0" anchor="ctr"/>
          <a:lstStyle/>
          <a:p>
            <a:pPr marL="0" indent="0" algn="ctr">
              <a:buNone/>
            </a:pPr>
            <a:r>
              <a:rPr lang="en-US" sz="1400" b="1" dirty="0">
                <a:solidFill>
                  <a:schemeClr val="tx2"/>
                </a:solidFill>
              </a:rPr>
              <a:t>Page 1: Dashboard</a:t>
            </a:r>
            <a:endParaRPr lang="en-US" sz="1400" dirty="0"/>
          </a:p>
        </p:txBody>
      </p:sp>
      <p:sp>
        <p:nvSpPr>
          <p:cNvPr id="10" name="Text 8"/>
          <p:cNvSpPr txBox="1"/>
          <p:nvPr/>
        </p:nvSpPr>
        <p:spPr>
          <a:xfrm>
            <a:off x="5577839" y="4382193"/>
            <a:ext cx="3108960" cy="320040"/>
          </a:xfrm>
          <a:prstGeom prst="rect">
            <a:avLst/>
          </a:prstGeom>
          <a:noFill/>
          <a:ln/>
        </p:spPr>
        <p:txBody>
          <a:bodyPr wrap="square" lIns="0" tIns="0" rIns="0" bIns="0" rtlCol="0" anchor="ctr"/>
          <a:lstStyle/>
          <a:p>
            <a:pPr marL="0" indent="0" algn="ctr">
              <a:buNone/>
            </a:pPr>
            <a:r>
              <a:rPr lang="en-US" sz="1400" b="1" dirty="0">
                <a:solidFill>
                  <a:schemeClr val="tx2"/>
                </a:solidFill>
              </a:rPr>
              <a:t>Page 3 – Model Performance</a:t>
            </a:r>
            <a:endParaRPr lang="en-US" sz="1400" dirty="0"/>
          </a:p>
        </p:txBody>
      </p:sp>
      <p:sp>
        <p:nvSpPr>
          <p:cNvPr id="12" name="Text 10"/>
          <p:cNvSpPr txBox="1"/>
          <p:nvPr/>
        </p:nvSpPr>
        <p:spPr>
          <a:xfrm>
            <a:off x="457200" y="4251960"/>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Live demo / repo link: </a:t>
            </a:r>
            <a:r>
              <a:rPr lang="en-US" sz="1200" dirty="0">
                <a:solidFill>
                  <a:schemeClr val="accent6"/>
                </a:solidFill>
                <a:hlinkClick r:id="rId3"/>
              </a:rPr>
              <a:t>https://data-insight-two.vercel.app/</a:t>
            </a:r>
            <a:r>
              <a:rPr lang="en-US" sz="1200" dirty="0">
                <a:solidFill>
                  <a:schemeClr val="accent6"/>
                </a:solidFill>
              </a:rPr>
              <a:t>  </a:t>
            </a:r>
            <a:endParaRPr lang="en-US" sz="12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6</a:t>
            </a:fld>
            <a:endParaRPr lang="en-US"/>
          </a:p>
        </p:txBody>
      </p:sp>
      <p:pic>
        <p:nvPicPr>
          <p:cNvPr id="16" name="Picture 15">
            <a:extLst>
              <a:ext uri="{FF2B5EF4-FFF2-40B4-BE49-F238E27FC236}">
                <a16:creationId xmlns:a16="http://schemas.microsoft.com/office/drawing/2014/main" id="{CE3C36AC-0833-725E-7EBA-7DB69C7F2588}"/>
              </a:ext>
            </a:extLst>
          </p:cNvPr>
          <p:cNvPicPr>
            <a:picLocks noChangeAspect="1"/>
          </p:cNvPicPr>
          <p:nvPr/>
        </p:nvPicPr>
        <p:blipFill>
          <a:blip r:embed="rId4"/>
          <a:stretch>
            <a:fillRect/>
          </a:stretch>
        </p:blipFill>
        <p:spPr>
          <a:xfrm>
            <a:off x="1156545" y="1177290"/>
            <a:ext cx="3283837" cy="2571750"/>
          </a:xfrm>
          <a:prstGeom prst="rect">
            <a:avLst/>
          </a:prstGeom>
        </p:spPr>
      </p:pic>
      <p:sp>
        <p:nvSpPr>
          <p:cNvPr id="17" name="Text 5">
            <a:extLst>
              <a:ext uri="{FF2B5EF4-FFF2-40B4-BE49-F238E27FC236}">
                <a16:creationId xmlns:a16="http://schemas.microsoft.com/office/drawing/2014/main" id="{7B19272B-38D3-9C12-00C9-EEEE14DB4F2C}"/>
              </a:ext>
            </a:extLst>
          </p:cNvPr>
          <p:cNvSpPr txBox="1"/>
          <p:nvPr/>
        </p:nvSpPr>
        <p:spPr>
          <a:xfrm>
            <a:off x="5880945" y="2292732"/>
            <a:ext cx="2348655" cy="320040"/>
          </a:xfrm>
          <a:prstGeom prst="rect">
            <a:avLst/>
          </a:prstGeom>
          <a:noFill/>
          <a:ln/>
        </p:spPr>
        <p:txBody>
          <a:bodyPr wrap="square" lIns="0" tIns="0" rIns="0" bIns="0" rtlCol="0" anchor="ctr"/>
          <a:lstStyle/>
          <a:p>
            <a:pPr marL="0" indent="0" algn="ctr">
              <a:buNone/>
            </a:pPr>
            <a:r>
              <a:rPr lang="en-US" sz="1400" b="1" dirty="0">
                <a:solidFill>
                  <a:schemeClr val="tx2"/>
                </a:solidFill>
              </a:rPr>
              <a:t>Page 2: Insight Query</a:t>
            </a:r>
            <a:endParaRPr lang="en-US" sz="1400" dirty="0"/>
          </a:p>
        </p:txBody>
      </p:sp>
      <p:pic>
        <p:nvPicPr>
          <p:cNvPr id="19" name="Picture 18">
            <a:extLst>
              <a:ext uri="{FF2B5EF4-FFF2-40B4-BE49-F238E27FC236}">
                <a16:creationId xmlns:a16="http://schemas.microsoft.com/office/drawing/2014/main" id="{6E44631C-8F22-8AB4-F797-AF2C5001797D}"/>
              </a:ext>
            </a:extLst>
          </p:cNvPr>
          <p:cNvPicPr>
            <a:picLocks noChangeAspect="1"/>
          </p:cNvPicPr>
          <p:nvPr/>
        </p:nvPicPr>
        <p:blipFill>
          <a:blip r:embed="rId5"/>
          <a:stretch>
            <a:fillRect/>
          </a:stretch>
        </p:blipFill>
        <p:spPr>
          <a:xfrm>
            <a:off x="5803015" y="510648"/>
            <a:ext cx="2658609" cy="1808408"/>
          </a:xfrm>
          <a:prstGeom prst="rect">
            <a:avLst/>
          </a:prstGeom>
        </p:spPr>
      </p:pic>
      <p:pic>
        <p:nvPicPr>
          <p:cNvPr id="21" name="Picture 20">
            <a:extLst>
              <a:ext uri="{FF2B5EF4-FFF2-40B4-BE49-F238E27FC236}">
                <a16:creationId xmlns:a16="http://schemas.microsoft.com/office/drawing/2014/main" id="{8D046406-23B2-62A8-C2D4-8EFA8E1B057E}"/>
              </a:ext>
            </a:extLst>
          </p:cNvPr>
          <p:cNvPicPr>
            <a:picLocks noChangeAspect="1"/>
          </p:cNvPicPr>
          <p:nvPr/>
        </p:nvPicPr>
        <p:blipFill>
          <a:blip r:embed="rId6"/>
          <a:stretch>
            <a:fillRect/>
          </a:stretch>
        </p:blipFill>
        <p:spPr>
          <a:xfrm>
            <a:off x="6323569" y="2645028"/>
            <a:ext cx="1822904" cy="17849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3" name="Finding card 1"/>
          <p:cNvSpPr/>
          <p:nvPr/>
        </p:nvSpPr>
        <p:spPr>
          <a:xfrm>
            <a:off x="457200" y="1188720"/>
            <a:ext cx="5120640" cy="1005840"/>
          </a:xfrm>
          <a:prstGeom prst="roundRect">
            <a:avLst>
              <a:gd name="adj" fmla="val 9091"/>
            </a:avLst>
          </a:prstGeom>
          <a:solidFill>
            <a:schemeClr val="bg2"/>
          </a:solidFill>
          <a:ln/>
        </p:spPr>
      </p:sp>
      <p:sp>
        <p:nvSpPr>
          <p:cNvPr id="4" name="Finding number 1"/>
          <p:cNvSpPr txBox="1"/>
          <p:nvPr/>
        </p:nvSpPr>
        <p:spPr>
          <a:xfrm>
            <a:off x="64008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1188720" y="1417320"/>
            <a:ext cx="4206240" cy="274320"/>
          </a:xfrm>
          <a:prstGeom prst="rect">
            <a:avLst/>
          </a:prstGeom>
          <a:noFill/>
          <a:ln/>
        </p:spPr>
        <p:txBody>
          <a:bodyPr wrap="square" lIns="0" tIns="0" rIns="0" bIns="0" rtlCol="0" anchor="ctr"/>
          <a:lstStyle/>
          <a:p>
            <a:pPr marL="0" indent="0">
              <a:buNone/>
            </a:pPr>
            <a:r>
              <a:rPr lang="en-US" sz="1400" b="1" dirty="0">
                <a:solidFill>
                  <a:schemeClr val="tx2"/>
                </a:solidFill>
              </a:rPr>
              <a:t>Key finding 1</a:t>
            </a:r>
            <a:endParaRPr lang="en-US" sz="1400" dirty="0"/>
          </a:p>
        </p:txBody>
      </p:sp>
      <p:sp>
        <p:nvSpPr>
          <p:cNvPr id="6" name="Text 4"/>
          <p:cNvSpPr txBox="1"/>
          <p:nvPr/>
        </p:nvSpPr>
        <p:spPr>
          <a:xfrm>
            <a:off x="1188720" y="1737360"/>
            <a:ext cx="4206240" cy="274320"/>
          </a:xfrm>
          <a:prstGeom prst="rect">
            <a:avLst/>
          </a:prstGeom>
          <a:noFill/>
          <a:ln/>
        </p:spPr>
        <p:txBody>
          <a:bodyPr wrap="square" lIns="0" tIns="0" rIns="0" bIns="0" rtlCol="0" anchor="ctr"/>
          <a:lstStyle/>
          <a:p>
            <a:pPr marL="0" indent="0">
              <a:buNone/>
            </a:pPr>
            <a:r>
              <a:rPr lang="en-US" sz="1200" dirty="0">
                <a:solidFill>
                  <a:schemeClr val="accent6"/>
                </a:solidFill>
              </a:rPr>
              <a:t>Our model cuts error by 76.1% vs the persistence baseline (MAE 3.93 vs 11.65 µg/m³).</a:t>
            </a:r>
            <a:endParaRPr lang="en-US" sz="1200" dirty="0"/>
          </a:p>
        </p:txBody>
      </p:sp>
      <p:sp>
        <p:nvSpPr>
          <p:cNvPr id="7" name="Finding card 2"/>
          <p:cNvSpPr/>
          <p:nvPr/>
        </p:nvSpPr>
        <p:spPr>
          <a:xfrm>
            <a:off x="457200" y="2331720"/>
            <a:ext cx="5120640" cy="1005840"/>
          </a:xfrm>
          <a:prstGeom prst="roundRect">
            <a:avLst>
              <a:gd name="adj" fmla="val 9091"/>
            </a:avLst>
          </a:prstGeom>
          <a:solidFill>
            <a:schemeClr val="bg2"/>
          </a:solidFill>
          <a:ln/>
        </p:spPr>
      </p:sp>
      <p:sp>
        <p:nvSpPr>
          <p:cNvPr id="8" name="Finding number 2"/>
          <p:cNvSpPr txBox="1"/>
          <p:nvPr/>
        </p:nvSpPr>
        <p:spPr>
          <a:xfrm>
            <a:off x="640080" y="2651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1188720" y="2560320"/>
            <a:ext cx="4206240" cy="274320"/>
          </a:xfrm>
          <a:prstGeom prst="rect">
            <a:avLst/>
          </a:prstGeom>
          <a:noFill/>
          <a:ln/>
        </p:spPr>
        <p:txBody>
          <a:bodyPr wrap="square" lIns="0" tIns="0" rIns="0" bIns="0" rtlCol="0" anchor="ctr"/>
          <a:lstStyle/>
          <a:p>
            <a:pPr marL="0" indent="0">
              <a:buNone/>
            </a:pPr>
            <a:r>
              <a:rPr lang="en-US" sz="1400" b="1" dirty="0">
                <a:solidFill>
                  <a:schemeClr val="tx2"/>
                </a:solidFill>
              </a:rPr>
              <a:t>Key finding 2</a:t>
            </a:r>
            <a:endParaRPr lang="en-US" sz="1400" dirty="0"/>
          </a:p>
        </p:txBody>
      </p:sp>
      <p:sp>
        <p:nvSpPr>
          <p:cNvPr id="10" name="Text 8"/>
          <p:cNvSpPr txBox="1"/>
          <p:nvPr/>
        </p:nvSpPr>
        <p:spPr>
          <a:xfrm>
            <a:off x="1188720" y="2880360"/>
            <a:ext cx="4206240" cy="274320"/>
          </a:xfrm>
          <a:prstGeom prst="rect">
            <a:avLst/>
          </a:prstGeom>
          <a:noFill/>
          <a:ln/>
        </p:spPr>
        <p:txBody>
          <a:bodyPr wrap="square" lIns="0" tIns="0" rIns="0" bIns="0" rtlCol="0" anchor="ctr"/>
          <a:lstStyle/>
          <a:p>
            <a:pPr marL="0" indent="0">
              <a:buNone/>
            </a:pPr>
            <a:r>
              <a:rPr lang="en-US" sz="1200" dirty="0">
                <a:solidFill>
                  <a:schemeClr val="accent6"/>
                </a:solidFill>
              </a:rPr>
              <a:t>Accuracy varies by city: Karachi is best (MAE [2.30]), Lahore worst (MAE [6.68]) due to winter smog.</a:t>
            </a:r>
            <a:endParaRPr lang="en-US" sz="1200" dirty="0"/>
          </a:p>
        </p:txBody>
      </p:sp>
      <p:sp>
        <p:nvSpPr>
          <p:cNvPr id="11" name="Finding card 3"/>
          <p:cNvSpPr/>
          <p:nvPr/>
        </p:nvSpPr>
        <p:spPr>
          <a:xfrm>
            <a:off x="457200" y="3474720"/>
            <a:ext cx="5120640" cy="1005840"/>
          </a:xfrm>
          <a:prstGeom prst="roundRect">
            <a:avLst>
              <a:gd name="adj" fmla="val 9091"/>
            </a:avLst>
          </a:prstGeom>
          <a:solidFill>
            <a:schemeClr val="bg2"/>
          </a:solidFill>
          <a:ln/>
        </p:spPr>
      </p:sp>
      <p:sp>
        <p:nvSpPr>
          <p:cNvPr id="12" name="Finding number 3"/>
          <p:cNvSpPr txBox="1"/>
          <p:nvPr/>
        </p:nvSpPr>
        <p:spPr>
          <a:xfrm>
            <a:off x="640080" y="3794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1"/>
          <p:cNvSpPr txBox="1"/>
          <p:nvPr/>
        </p:nvSpPr>
        <p:spPr>
          <a:xfrm>
            <a:off x="1188720" y="3703320"/>
            <a:ext cx="4206240" cy="274320"/>
          </a:xfrm>
          <a:prstGeom prst="rect">
            <a:avLst/>
          </a:prstGeom>
          <a:noFill/>
          <a:ln/>
        </p:spPr>
        <p:txBody>
          <a:bodyPr wrap="square" lIns="0" tIns="0" rIns="0" bIns="0" rtlCol="0" anchor="ctr"/>
          <a:lstStyle/>
          <a:p>
            <a:pPr marL="0" indent="0">
              <a:buNone/>
            </a:pPr>
            <a:r>
              <a:rPr lang="en-US" sz="1400" b="1" dirty="0">
                <a:solidFill>
                  <a:schemeClr val="tx2"/>
                </a:solidFill>
              </a:rPr>
              <a:t>Key finding 3</a:t>
            </a:r>
            <a:endParaRPr lang="en-US" sz="1400" dirty="0"/>
          </a:p>
        </p:txBody>
      </p:sp>
      <p:sp>
        <p:nvSpPr>
          <p:cNvPr id="14" name="Text 12"/>
          <p:cNvSpPr txBox="1"/>
          <p:nvPr/>
        </p:nvSpPr>
        <p:spPr>
          <a:xfrm>
            <a:off x="1188720" y="4023360"/>
            <a:ext cx="4206240" cy="274320"/>
          </a:xfrm>
          <a:prstGeom prst="rect">
            <a:avLst/>
          </a:prstGeom>
          <a:noFill/>
          <a:ln/>
        </p:spPr>
        <p:txBody>
          <a:bodyPr wrap="square" lIns="0" tIns="0" rIns="0" bIns="0" rtlCol="0" anchor="ctr"/>
          <a:lstStyle/>
          <a:p>
            <a:pPr marL="0" indent="0">
              <a:buNone/>
            </a:pPr>
            <a:r>
              <a:rPr lang="en-US" sz="1200" dirty="0">
                <a:solidFill>
                  <a:schemeClr val="accent6"/>
                </a:solidFill>
              </a:rPr>
              <a:t>The 80% prediction intervals covered [85.20%]% of test observations on a time-based split.</a:t>
            </a:r>
            <a:endParaRPr lang="en-US" sz="1200" dirty="0"/>
          </a:p>
        </p:txBody>
      </p:sp>
      <p:sp>
        <p:nvSpPr>
          <p:cNvPr id="15" name="Impact card"/>
          <p:cNvSpPr/>
          <p:nvPr/>
        </p:nvSpPr>
        <p:spPr>
          <a:xfrm>
            <a:off x="5852160" y="1188720"/>
            <a:ext cx="2834640" cy="1600200"/>
          </a:xfrm>
          <a:prstGeom prst="roundRect">
            <a:avLst>
              <a:gd name="adj" fmla="val 5714"/>
            </a:avLst>
          </a:prstGeom>
          <a:solidFill>
            <a:schemeClr val="tx2"/>
          </a:solidFill>
          <a:ln/>
        </p:spPr>
      </p:sp>
      <p:sp>
        <p:nvSpPr>
          <p:cNvPr id="16" name="Text 14"/>
          <p:cNvSpPr txBox="1"/>
          <p:nvPr/>
        </p:nvSpPr>
        <p:spPr>
          <a:xfrm>
            <a:off x="6080760" y="1371600"/>
            <a:ext cx="2377440" cy="274320"/>
          </a:xfrm>
          <a:prstGeom prst="rect">
            <a:avLst/>
          </a:prstGeom>
          <a:noFill/>
          <a:ln/>
        </p:spPr>
        <p:txBody>
          <a:bodyPr wrap="square" lIns="0" tIns="0" rIns="0" bIns="0" rtlCol="0" anchor="ctr"/>
          <a:lstStyle/>
          <a:p>
            <a:pPr marL="0" indent="0">
              <a:buNone/>
            </a:pPr>
            <a:r>
              <a:rPr lang="en-US" sz="1200" b="1" dirty="0">
                <a:solidFill>
                  <a:schemeClr val="accent4"/>
                </a:solidFill>
              </a:rPr>
              <a:t>IMPACT</a:t>
            </a:r>
            <a:endParaRPr lang="en-US" sz="1200" dirty="0"/>
          </a:p>
        </p:txBody>
      </p:sp>
      <p:sp>
        <p:nvSpPr>
          <p:cNvPr id="17" name="Text 15"/>
          <p:cNvSpPr txBox="1"/>
          <p:nvPr/>
        </p:nvSpPr>
        <p:spPr>
          <a:xfrm>
            <a:off x="6080760" y="1737360"/>
            <a:ext cx="2377440" cy="822960"/>
          </a:xfrm>
          <a:prstGeom prst="rect">
            <a:avLst/>
          </a:prstGeom>
          <a:noFill/>
          <a:ln/>
        </p:spPr>
        <p:txBody>
          <a:bodyPr wrap="square" lIns="0" tIns="0" rIns="0" bIns="0" rtlCol="0" anchor="t"/>
          <a:lstStyle/>
          <a:p>
            <a:pPr marL="0" indent="0">
              <a:buNone/>
            </a:pPr>
            <a:r>
              <a:rPr lang="en-US" sz="1400" dirty="0">
                <a:solidFill>
                  <a:schemeClr val="bg1"/>
                </a:solidFill>
              </a:rPr>
              <a:t>Residents and health officers get early, cited warnings of unhealthy air.</a:t>
            </a:r>
            <a:endParaRPr lang="en-US" sz="1400" dirty="0"/>
          </a:p>
        </p:txBody>
      </p:sp>
      <p:sp>
        <p:nvSpPr>
          <p:cNvPr id="18" name="Future work card"/>
          <p:cNvSpPr/>
          <p:nvPr/>
        </p:nvSpPr>
        <p:spPr>
          <a:xfrm>
            <a:off x="5852160" y="2880360"/>
            <a:ext cx="2834640" cy="1600200"/>
          </a:xfrm>
          <a:prstGeom prst="roundRect">
            <a:avLst>
              <a:gd name="adj" fmla="val 5714"/>
            </a:avLst>
          </a:prstGeom>
          <a:solidFill>
            <a:schemeClr val="bg2"/>
          </a:solidFill>
          <a:ln/>
        </p:spPr>
      </p:sp>
      <p:sp>
        <p:nvSpPr>
          <p:cNvPr id="19" name="Text 17"/>
          <p:cNvSpPr txBox="1"/>
          <p:nvPr/>
        </p:nvSpPr>
        <p:spPr>
          <a:xfrm>
            <a:off x="6080760" y="3063240"/>
            <a:ext cx="2377440" cy="274320"/>
          </a:xfrm>
          <a:prstGeom prst="rect">
            <a:avLst/>
          </a:prstGeom>
          <a:noFill/>
          <a:ln/>
        </p:spPr>
        <p:txBody>
          <a:bodyPr wrap="square" lIns="0" tIns="0" rIns="0" bIns="0" rtlCol="0" anchor="ctr"/>
          <a:lstStyle/>
          <a:p>
            <a:pPr marL="0" indent="0">
              <a:buNone/>
            </a:pPr>
            <a:r>
              <a:rPr lang="en-US" sz="1200" b="1" dirty="0">
                <a:solidFill>
                  <a:schemeClr val="accent1"/>
                </a:solidFill>
              </a:rPr>
              <a:t>FUTURE WORK</a:t>
            </a:r>
            <a:endParaRPr lang="en-US" sz="1200" dirty="0"/>
          </a:p>
        </p:txBody>
      </p:sp>
      <p:sp>
        <p:nvSpPr>
          <p:cNvPr id="20" name="Text 18"/>
          <p:cNvSpPr txBox="1"/>
          <p:nvPr/>
        </p:nvSpPr>
        <p:spPr>
          <a:xfrm>
            <a:off x="6080760" y="3429000"/>
            <a:ext cx="2377440" cy="822960"/>
          </a:xfrm>
          <a:prstGeom prst="rect">
            <a:avLst/>
          </a:prstGeom>
          <a:noFill/>
          <a:ln/>
        </p:spPr>
        <p:txBody>
          <a:bodyPr wrap="square" lIns="0" tIns="0" rIns="0" bIns="0" rtlCol="0" anchor="t"/>
          <a:lstStyle/>
          <a:p>
            <a:pPr marL="0" indent="0">
              <a:buNone/>
            </a:pPr>
            <a:r>
              <a:rPr lang="en-US" sz="1400" dirty="0">
                <a:solidFill>
                  <a:schemeClr val="tx1"/>
                </a:solidFill>
              </a:rPr>
              <a:t>Direct multi-step 24h model, more cities, satellite fire data, and cloud DB for live updates</a:t>
            </a:r>
            <a:endParaRPr lang="en-US" sz="14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bg1"/>
                </a:solidFill>
              </a:rPr>
              <a:t>Team &amp; Credits</a:t>
            </a:r>
            <a:endParaRPr lang="en-US" sz="3200" dirty="0"/>
          </a:p>
        </p:txBody>
      </p:sp>
      <p:sp>
        <p:nvSpPr>
          <p:cNvPr id="3" name="Text 1"/>
          <p:cNvSpPr txBox="1"/>
          <p:nvPr/>
        </p:nvSpPr>
        <p:spPr>
          <a:xfrm>
            <a:off x="457200" y="1097280"/>
            <a:ext cx="8229600" cy="548640"/>
          </a:xfrm>
          <a:prstGeom prst="rect">
            <a:avLst/>
          </a:prstGeom>
          <a:noFill/>
          <a:ln/>
        </p:spPr>
        <p:txBody>
          <a:bodyPr wrap="square" lIns="0" tIns="0" rIns="0" bIns="0" rtlCol="0" anchor="ctr"/>
          <a:lstStyle/>
          <a:p>
            <a:pPr marL="0" indent="0">
              <a:buNone/>
            </a:pPr>
            <a:r>
              <a:rPr lang="en-US" sz="2800" b="1" dirty="0">
                <a:solidFill>
                  <a:schemeClr val="accent4"/>
                </a:solidFill>
              </a:rPr>
              <a:t>Team: </a:t>
            </a:r>
            <a:r>
              <a:rPr lang="en-US" sz="2800" b="1" dirty="0" err="1">
                <a:solidFill>
                  <a:schemeClr val="accent4"/>
                </a:solidFill>
              </a:rPr>
              <a:t>Khubsoorat</a:t>
            </a:r>
            <a:r>
              <a:rPr lang="en-US" sz="2800" b="1" dirty="0">
                <a:solidFill>
                  <a:schemeClr val="accent4"/>
                </a:solidFill>
              </a:rPr>
              <a:t> </a:t>
            </a:r>
            <a:r>
              <a:rPr lang="en-US" sz="2800" b="1" dirty="0" err="1">
                <a:solidFill>
                  <a:schemeClr val="accent4"/>
                </a:solidFill>
              </a:rPr>
              <a:t>Shklein</a:t>
            </a:r>
            <a:endParaRPr lang="en-US" sz="2800" dirty="0"/>
          </a:p>
        </p:txBody>
      </p:sp>
      <p:sp>
        <p:nvSpPr>
          <p:cNvPr id="4" name="Member card 1"/>
          <p:cNvSpPr/>
          <p:nvPr/>
        </p:nvSpPr>
        <p:spPr>
          <a:xfrm>
            <a:off x="457200" y="1828800"/>
            <a:ext cx="1920240" cy="1783080"/>
          </a:xfrm>
          <a:prstGeom prst="roundRect">
            <a:avLst>
              <a:gd name="adj" fmla="val 5128"/>
            </a:avLst>
          </a:prstGeom>
          <a:solidFill>
            <a:schemeClr val="bg1">
              <a:alpha val="12000"/>
            </a:schemeClr>
          </a:solidFill>
          <a:ln/>
        </p:spPr>
      </p:sp>
      <p:sp>
        <p:nvSpPr>
          <p:cNvPr id="5" name="Avatar 1"/>
          <p:cNvSpPr txBox="1"/>
          <p:nvPr/>
        </p:nvSpPr>
        <p:spPr>
          <a:xfrm>
            <a:off x="1097280" y="2011680"/>
            <a:ext cx="640080"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MH</a:t>
            </a:r>
            <a:endParaRPr lang="en-US" sz="1600" dirty="0"/>
          </a:p>
        </p:txBody>
      </p:sp>
      <p:sp>
        <p:nvSpPr>
          <p:cNvPr id="6" name="Text 4"/>
          <p:cNvSpPr txBox="1"/>
          <p:nvPr/>
        </p:nvSpPr>
        <p:spPr>
          <a:xfrm>
            <a:off x="54864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Hassan </a:t>
            </a:r>
            <a:endParaRPr lang="en-US" sz="1400" dirty="0"/>
          </a:p>
        </p:txBody>
      </p:sp>
      <p:sp>
        <p:nvSpPr>
          <p:cNvPr id="7" name="Text 5"/>
          <p:cNvSpPr txBox="1"/>
          <p:nvPr/>
        </p:nvSpPr>
        <p:spPr>
          <a:xfrm>
            <a:off x="548640" y="3108960"/>
            <a:ext cx="1737360" cy="274320"/>
          </a:xfrm>
          <a:prstGeom prst="rect">
            <a:avLst/>
          </a:prstGeom>
          <a:noFill/>
          <a:ln/>
        </p:spPr>
        <p:txBody>
          <a:bodyPr wrap="square" lIns="0" tIns="0" rIns="0" bIns="0" rtlCol="0" anchor="ctr"/>
          <a:lstStyle/>
          <a:p>
            <a:pPr marL="0" indent="0" algn="ctr">
              <a:buNone/>
            </a:pPr>
            <a:r>
              <a:rPr lang="en-US" sz="1200" dirty="0">
                <a:solidFill>
                  <a:schemeClr val="accent4"/>
                </a:solidFill>
              </a:rPr>
              <a:t>Data Scientist | CT-243]</a:t>
            </a:r>
            <a:endParaRPr lang="en-US" sz="1200" dirty="0"/>
          </a:p>
        </p:txBody>
      </p:sp>
      <p:sp>
        <p:nvSpPr>
          <p:cNvPr id="8" name="Member card 2"/>
          <p:cNvSpPr/>
          <p:nvPr/>
        </p:nvSpPr>
        <p:spPr>
          <a:xfrm>
            <a:off x="2560320" y="1828800"/>
            <a:ext cx="1920240" cy="1783080"/>
          </a:xfrm>
          <a:prstGeom prst="roundRect">
            <a:avLst>
              <a:gd name="adj" fmla="val 5128"/>
            </a:avLst>
          </a:prstGeom>
          <a:solidFill>
            <a:schemeClr val="bg1">
              <a:alpha val="12000"/>
            </a:schemeClr>
          </a:solidFill>
          <a:ln/>
        </p:spPr>
      </p:sp>
      <p:sp>
        <p:nvSpPr>
          <p:cNvPr id="9" name="Avatar 2"/>
          <p:cNvSpPr txBox="1"/>
          <p:nvPr/>
        </p:nvSpPr>
        <p:spPr>
          <a:xfrm>
            <a:off x="3200399" y="2011680"/>
            <a:ext cx="713509"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MFM</a:t>
            </a:r>
            <a:endParaRPr lang="en-US" sz="1600" dirty="0"/>
          </a:p>
        </p:txBody>
      </p:sp>
      <p:sp>
        <p:nvSpPr>
          <p:cNvPr id="10" name="Text 8"/>
          <p:cNvSpPr txBox="1"/>
          <p:nvPr/>
        </p:nvSpPr>
        <p:spPr>
          <a:xfrm>
            <a:off x="265176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Feras Malik</a:t>
            </a:r>
            <a:endParaRPr lang="en-US" sz="1400" dirty="0"/>
          </a:p>
        </p:txBody>
      </p:sp>
      <p:sp>
        <p:nvSpPr>
          <p:cNvPr id="11" name="Text 9"/>
          <p:cNvSpPr txBox="1"/>
          <p:nvPr/>
        </p:nvSpPr>
        <p:spPr>
          <a:xfrm>
            <a:off x="2651760" y="3108960"/>
            <a:ext cx="1737360" cy="274320"/>
          </a:xfrm>
          <a:prstGeom prst="rect">
            <a:avLst/>
          </a:prstGeom>
          <a:noFill/>
          <a:ln/>
        </p:spPr>
        <p:txBody>
          <a:bodyPr wrap="square" lIns="0" tIns="0" rIns="0" bIns="0" rtlCol="0" anchor="ctr"/>
          <a:lstStyle/>
          <a:p>
            <a:pPr marL="0" indent="0" algn="ctr">
              <a:buNone/>
            </a:pPr>
            <a:r>
              <a:rPr lang="en-US" sz="1200" dirty="0">
                <a:solidFill>
                  <a:schemeClr val="accent4"/>
                </a:solidFill>
              </a:rPr>
              <a:t>AI  | CT-247</a:t>
            </a:r>
            <a:endParaRPr lang="en-US" sz="1200" dirty="0"/>
          </a:p>
        </p:txBody>
      </p:sp>
      <p:sp>
        <p:nvSpPr>
          <p:cNvPr id="12" name="Member card 3"/>
          <p:cNvSpPr/>
          <p:nvPr/>
        </p:nvSpPr>
        <p:spPr>
          <a:xfrm>
            <a:off x="4663440" y="1828800"/>
            <a:ext cx="1920240" cy="1783080"/>
          </a:xfrm>
          <a:prstGeom prst="roundRect">
            <a:avLst>
              <a:gd name="adj" fmla="val 5128"/>
            </a:avLst>
          </a:prstGeom>
          <a:solidFill>
            <a:schemeClr val="bg1">
              <a:alpha val="12000"/>
            </a:schemeClr>
          </a:solidFill>
          <a:ln/>
        </p:spPr>
      </p:sp>
      <p:sp>
        <p:nvSpPr>
          <p:cNvPr id="13" name="Avatar 3"/>
          <p:cNvSpPr txBox="1"/>
          <p:nvPr/>
        </p:nvSpPr>
        <p:spPr>
          <a:xfrm>
            <a:off x="5303520" y="2011680"/>
            <a:ext cx="737062"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MAH</a:t>
            </a:r>
            <a:endParaRPr lang="en-US" sz="1600" dirty="0"/>
          </a:p>
        </p:txBody>
      </p:sp>
      <p:sp>
        <p:nvSpPr>
          <p:cNvPr id="14" name="Text 12"/>
          <p:cNvSpPr txBox="1"/>
          <p:nvPr/>
        </p:nvSpPr>
        <p:spPr>
          <a:xfrm>
            <a:off x="475488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Ahmed Khan</a:t>
            </a:r>
            <a:endParaRPr lang="en-US" sz="1400" dirty="0"/>
          </a:p>
        </p:txBody>
      </p:sp>
      <p:sp>
        <p:nvSpPr>
          <p:cNvPr id="15" name="Text 13"/>
          <p:cNvSpPr txBox="1"/>
          <p:nvPr/>
        </p:nvSpPr>
        <p:spPr>
          <a:xfrm>
            <a:off x="4663440" y="3195551"/>
            <a:ext cx="1920240" cy="274320"/>
          </a:xfrm>
          <a:prstGeom prst="rect">
            <a:avLst/>
          </a:prstGeom>
          <a:noFill/>
          <a:ln/>
        </p:spPr>
        <p:txBody>
          <a:bodyPr wrap="square" lIns="0" tIns="0" rIns="0" bIns="0" rtlCol="0" anchor="ctr"/>
          <a:lstStyle/>
          <a:p>
            <a:pPr marL="0" indent="0" algn="ctr">
              <a:buNone/>
            </a:pPr>
            <a:r>
              <a:rPr lang="en-US" sz="1200" dirty="0">
                <a:solidFill>
                  <a:schemeClr val="accent4"/>
                </a:solidFill>
              </a:rPr>
              <a:t>Frontend Developer | CT-245]</a:t>
            </a:r>
            <a:endParaRPr lang="en-US" sz="1200" dirty="0"/>
          </a:p>
        </p:txBody>
      </p:sp>
      <p:sp>
        <p:nvSpPr>
          <p:cNvPr id="16" name="Member card 4"/>
          <p:cNvSpPr/>
          <p:nvPr/>
        </p:nvSpPr>
        <p:spPr>
          <a:xfrm>
            <a:off x="6766560" y="1828800"/>
            <a:ext cx="1920240" cy="1783080"/>
          </a:xfrm>
          <a:prstGeom prst="roundRect">
            <a:avLst>
              <a:gd name="adj" fmla="val 5128"/>
            </a:avLst>
          </a:prstGeom>
          <a:solidFill>
            <a:schemeClr val="bg1">
              <a:alpha val="12000"/>
            </a:schemeClr>
          </a:solidFill>
          <a:ln/>
        </p:spPr>
      </p:sp>
      <p:sp>
        <p:nvSpPr>
          <p:cNvPr id="17" name="Avatar 4"/>
          <p:cNvSpPr txBox="1"/>
          <p:nvPr/>
        </p:nvSpPr>
        <p:spPr>
          <a:xfrm>
            <a:off x="7406640" y="2011680"/>
            <a:ext cx="640080"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MSU</a:t>
            </a:r>
            <a:endParaRPr lang="en-US" sz="1600" dirty="0"/>
          </a:p>
        </p:txBody>
      </p:sp>
      <p:sp>
        <p:nvSpPr>
          <p:cNvPr id="18" name="Text 16"/>
          <p:cNvSpPr txBox="1"/>
          <p:nvPr/>
        </p:nvSpPr>
        <p:spPr>
          <a:xfrm>
            <a:off x="685800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a:t>
            </a:r>
            <a:r>
              <a:rPr lang="en-US" sz="1400" b="1" dirty="0" err="1">
                <a:solidFill>
                  <a:schemeClr val="bg1"/>
                </a:solidFill>
              </a:rPr>
              <a:t>Sarim</a:t>
            </a:r>
            <a:r>
              <a:rPr lang="en-US" sz="1400" b="1" dirty="0">
                <a:solidFill>
                  <a:schemeClr val="bg1"/>
                </a:solidFill>
              </a:rPr>
              <a:t> Umer</a:t>
            </a:r>
            <a:endParaRPr lang="en-US" sz="1400" dirty="0"/>
          </a:p>
        </p:txBody>
      </p:sp>
      <p:sp>
        <p:nvSpPr>
          <p:cNvPr id="19" name="Text 17"/>
          <p:cNvSpPr txBox="1"/>
          <p:nvPr/>
        </p:nvSpPr>
        <p:spPr>
          <a:xfrm>
            <a:off x="6858000" y="3205249"/>
            <a:ext cx="1737360" cy="274320"/>
          </a:xfrm>
          <a:prstGeom prst="rect">
            <a:avLst/>
          </a:prstGeom>
          <a:noFill/>
          <a:ln/>
        </p:spPr>
        <p:txBody>
          <a:bodyPr wrap="square" lIns="0" tIns="0" rIns="0" bIns="0" rtlCol="0" anchor="ctr"/>
          <a:lstStyle/>
          <a:p>
            <a:pPr marL="0" indent="0" algn="ctr">
              <a:buNone/>
            </a:pPr>
            <a:r>
              <a:rPr lang="en-US" sz="1200" dirty="0">
                <a:solidFill>
                  <a:schemeClr val="accent4"/>
                </a:solidFill>
              </a:rPr>
              <a:t>ML | CT-235 </a:t>
            </a:r>
            <a:endParaRPr lang="en-US" sz="1200" dirty="0"/>
          </a:p>
        </p:txBody>
      </p:sp>
      <p:sp>
        <p:nvSpPr>
          <p:cNvPr id="20" name="Text 18"/>
          <p:cNvSpPr txBox="1"/>
          <p:nvPr/>
        </p:nvSpPr>
        <p:spPr>
          <a:xfrm>
            <a:off x="457200" y="3931920"/>
            <a:ext cx="8229600" cy="274320"/>
          </a:xfrm>
          <a:prstGeom prst="rect">
            <a:avLst/>
          </a:prstGeom>
          <a:noFill/>
          <a:ln/>
        </p:spPr>
        <p:txBody>
          <a:bodyPr wrap="square" lIns="0" tIns="0" rIns="0" bIns="0" rtlCol="0" anchor="ctr"/>
          <a:lstStyle/>
          <a:p>
            <a:pPr marL="0" indent="0">
              <a:buNone/>
            </a:pPr>
            <a:r>
              <a:rPr lang="en-US" sz="1400" dirty="0" err="1">
                <a:solidFill>
                  <a:schemeClr val="bg1"/>
                </a:solidFill>
              </a:rPr>
              <a:t>Github</a:t>
            </a:r>
            <a:r>
              <a:rPr lang="en-US" sz="1400" dirty="0">
                <a:solidFill>
                  <a:schemeClr val="bg1"/>
                </a:solidFill>
              </a:rPr>
              <a:t>: github.com/Muhammad-Hassan06</a:t>
            </a:r>
            <a:endParaRPr lang="en-US" sz="1400" dirty="0"/>
          </a:p>
        </p:txBody>
      </p:sp>
      <p:sp>
        <p:nvSpPr>
          <p:cNvPr id="21" name="Text 19"/>
          <p:cNvSpPr txBox="1"/>
          <p:nvPr/>
        </p:nvSpPr>
        <p:spPr>
          <a:xfrm>
            <a:off x="457200" y="4251960"/>
            <a:ext cx="8229600" cy="365760"/>
          </a:xfrm>
          <a:prstGeom prst="rect">
            <a:avLst/>
          </a:prstGeom>
          <a:noFill/>
          <a:ln/>
        </p:spPr>
        <p:txBody>
          <a:bodyPr wrap="square" lIns="0" tIns="0" rIns="0" bIns="0" rtlCol="0" anchor="ctr"/>
          <a:lstStyle/>
          <a:p>
            <a:pPr marL="0" indent="0">
              <a:buNone/>
            </a:pPr>
            <a:r>
              <a:rPr lang="en-US" sz="2000" b="1" dirty="0">
                <a:solidFill>
                  <a:schemeClr val="accent4"/>
                </a:solidFill>
              </a:rPr>
              <a:t>Thank you!</a:t>
            </a:r>
            <a:endParaRPr lang="en-US" sz="20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HackInsight">
  <a:themeElements>
    <a:clrScheme name="HackInsight">
      <a:dk1>
        <a:srgbClr val="151515"/>
      </a:dk1>
      <a:lt1>
        <a:srgbClr val="FFFFFF"/>
      </a:lt1>
      <a:dk2>
        <a:srgbClr val="0B5D2A"/>
      </a:dk2>
      <a:lt2>
        <a:srgbClr val="EAF6EE"/>
      </a:lt2>
      <a:accent1>
        <a:srgbClr val="1FA84F"/>
      </a:accent1>
      <a:accent2>
        <a:srgbClr val="0B5D2A"/>
      </a:accent2>
      <a:accent3>
        <a:srgbClr val="151515"/>
      </a:accent3>
      <a:accent4>
        <a:srgbClr val="8FD9A8"/>
      </a:accent4>
      <a:accent5>
        <a:srgbClr val="F2B632"/>
      </a:accent5>
      <a:accent6>
        <a:srgbClr val="5F6B66"/>
      </a:accent6>
      <a:hlink>
        <a:srgbClr val="1FA84F"/>
      </a:hlink>
      <a:folHlink>
        <a:srgbClr val="0B5D2A"/>
      </a:folHlink>
    </a:clrScheme>
    <a:fontScheme name="HackIns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596</Words>
  <Application>Microsoft Office PowerPoint</Application>
  <PresentationFormat>On-screen Show (16:9)</PresentationFormat>
  <Paragraphs>120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Arial Unicode MS</vt:lpstr>
      <vt:lpstr>HackInsight</vt:lpstr>
      <vt:lpstr>Hourly PM2.5 Forecasting &amp; Unhealthy-Air Warning for Pakistani Cities</vt:lpstr>
      <vt:lpstr>Problem Statement</vt:lpstr>
      <vt:lpstr>Dataset Declaration</vt:lpstr>
      <vt:lpstr>Pipeline Used</vt:lpstr>
      <vt:lpstr>Pipeline Details &amp; Tools</vt:lpstr>
      <vt:lpstr>Dashboard / App Views</vt:lpstr>
      <vt:lpstr>Conclusion</vt:lpstr>
      <vt:lpstr>Team &amp; Credits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Insight 2026 - Team Template</dc:title>
  <dc:subject>PptxGenJS Presentation</dc:subject>
  <dc:creator>PptxGenJS</dc:creator>
  <cp:lastModifiedBy>Feras Malik</cp:lastModifiedBy>
  <cp:revision>10</cp:revision>
  <dcterms:created xsi:type="dcterms:W3CDTF">2026-10-21T15:16:12Z</dcterms:created>
  <dcterms:modified xsi:type="dcterms:W3CDTF">2026-10-21T17:09:08Z</dcterms:modified>
</cp:coreProperties>
</file>